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314" r:id="rId65"/>
    <p:sldId id="315" r:id="rId66"/>
    <p:sldId id="316" r:id="rId67"/>
    <p:sldId id="259" r:id="rId5"/>
    <p:sldId id="260" r:id="rId6"/>
    <p:sldId id="261" r:id="rId7"/>
    <p:sldId id="262" r:id="rId8"/>
    <p:sldId id="294" r:id="rId9"/>
    <p:sldId id="295" r:id="rId10"/>
    <p:sldId id="263" r:id="rId11"/>
    <p:sldId id="264" r:id="rId12"/>
    <p:sldId id="309" r:id="rId60"/>
    <p:sldId id="310" r:id="rId61"/>
    <p:sldId id="311" r:id="rId62"/>
    <p:sldId id="312" r:id="rId63"/>
    <p:sldId id="313" r:id="rId64"/>
    <p:sldId id="265" r:id="rId13"/>
    <p:sldId id="266" r:id="rId14"/>
    <p:sldId id="267" r:id="rId15"/>
    <p:sldId id="268" r:id="rId16"/>
    <p:sldId id="269" r:id="rId17"/>
    <p:sldId id="270" r:id="rId18"/>
    <p:sldId id="296" r:id="rId19"/>
    <p:sldId id="297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6"/>
    <p:sldId id="306" r:id="rId57"/>
    <p:sldId id="307" r:id="rId58"/>
    <p:sldId id="308" r:id="rId59"/>
    <p:sldId id="293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7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20.xml"/><Relationship Id="rId14" Type="http://schemas.openxmlformats.org/officeDocument/2006/relationships/slide" Target="slides/slide21.xml"/><Relationship Id="rId15" Type="http://schemas.openxmlformats.org/officeDocument/2006/relationships/slide" Target="slides/slide22.xml"/><Relationship Id="rId16" Type="http://schemas.openxmlformats.org/officeDocument/2006/relationships/slide" Target="slides/slide23.xml"/><Relationship Id="rId17" Type="http://schemas.openxmlformats.org/officeDocument/2006/relationships/slide" Target="slides/slide24.xml"/><Relationship Id="rId18" Type="http://schemas.openxmlformats.org/officeDocument/2006/relationships/slide" Target="slides/slide25.xml"/><Relationship Id="rId19" Type="http://schemas.openxmlformats.org/officeDocument/2006/relationships/slide" Target="slides/slide26.xml"/><Relationship Id="rId20" Type="http://schemas.openxmlformats.org/officeDocument/2006/relationships/slide" Target="slides/slide27.xml"/><Relationship Id="rId21" Type="http://schemas.openxmlformats.org/officeDocument/2006/relationships/slide" Target="slides/slide28.xml"/><Relationship Id="rId22" Type="http://schemas.openxmlformats.org/officeDocument/2006/relationships/slide" Target="slides/slide29.xml"/><Relationship Id="rId23" Type="http://schemas.openxmlformats.org/officeDocument/2006/relationships/slide" Target="slides/slide30.xml"/><Relationship Id="rId24" Type="http://schemas.openxmlformats.org/officeDocument/2006/relationships/slide" Target="slides/slide31.xml"/><Relationship Id="rId25" Type="http://schemas.openxmlformats.org/officeDocument/2006/relationships/slide" Target="slides/slide32.xml"/><Relationship Id="rId26" Type="http://schemas.openxmlformats.org/officeDocument/2006/relationships/slide" Target="slides/slide33.xml"/><Relationship Id="rId27" Type="http://schemas.openxmlformats.org/officeDocument/2006/relationships/slide" Target="slides/slide34.xml"/><Relationship Id="rId28" Type="http://schemas.openxmlformats.org/officeDocument/2006/relationships/slide" Target="slides/slide35.xml"/><Relationship Id="rId29" Type="http://schemas.openxmlformats.org/officeDocument/2006/relationships/slide" Target="slides/slide36.xml"/><Relationship Id="rId30" Type="http://schemas.openxmlformats.org/officeDocument/2006/relationships/slide" Target="slides/slide37.xml"/><Relationship Id="rId31" Type="http://schemas.openxmlformats.org/officeDocument/2006/relationships/slide" Target="slides/slide38.xml"/><Relationship Id="rId32" Type="http://schemas.openxmlformats.org/officeDocument/2006/relationships/slide" Target="slides/slide39.xml"/><Relationship Id="rId33" Type="http://schemas.openxmlformats.org/officeDocument/2006/relationships/slide" Target="slides/slide40.xml"/><Relationship Id="rId34" Type="http://schemas.openxmlformats.org/officeDocument/2006/relationships/slide" Target="slides/slide41.xml"/><Relationship Id="rId35" Type="http://schemas.openxmlformats.org/officeDocument/2006/relationships/slide" Target="slides/slide42.xml"/><Relationship Id="rId36" Type="http://schemas.openxmlformats.org/officeDocument/2006/relationships/slide" Target="slides/slide43.xml"/><Relationship Id="rId37" Type="http://schemas.openxmlformats.org/officeDocument/2006/relationships/slide" Target="slides/slide44.xml"/><Relationship Id="rId38" Type="http://schemas.openxmlformats.org/officeDocument/2006/relationships/slide" Target="slides/slide45.xml"/><Relationship Id="rId39" Type="http://schemas.openxmlformats.org/officeDocument/2006/relationships/slide" Target="slides/slide46.xml"/><Relationship Id="rId40" Type="http://schemas.openxmlformats.org/officeDocument/2006/relationships/slide" Target="slides/slide47.xml"/><Relationship Id="rId41" Type="http://schemas.openxmlformats.org/officeDocument/2006/relationships/slide" Target="slides/slide48.xml"/><Relationship Id="rId42" Type="http://schemas.openxmlformats.org/officeDocument/2006/relationships/slide" Target="slides/slide49.xml"/><Relationship Id="rId43" Type="http://schemas.openxmlformats.org/officeDocument/2006/relationships/slide" Target="slides/slide50.xml"/><Relationship Id="rId44" Type="http://schemas.openxmlformats.org/officeDocument/2006/relationships/slide" Target="slides/slide51.xml"/><Relationship Id="rId45" Type="http://schemas.openxmlformats.org/officeDocument/2006/relationships/slide" Target="slides/slide52.xml"/><Relationship Id="rId46" Type="http://schemas.openxmlformats.org/officeDocument/2006/relationships/slide" Target="slides/slide53.xml"/><Relationship Id="rId47" Type="http://schemas.openxmlformats.org/officeDocument/2006/relationships/slide" Target="slides/slide54.xml"/><Relationship Id="rId48" Type="http://schemas.openxmlformats.org/officeDocument/2006/relationships/slide" Target="slides/slide55.xml"/><Relationship Id="rId49" Type="http://schemas.openxmlformats.org/officeDocument/2006/relationships/slide" Target="slides/slide56.xml"/><Relationship Id="rId50" Type="http://schemas.openxmlformats.org/officeDocument/2006/relationships/slide" Target="slides/slide61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openxmlformats.org/officeDocument/2006/relationships/slide" Target="slides/slide57.xml"/><Relationship Id="rId57" Type="http://schemas.openxmlformats.org/officeDocument/2006/relationships/slide" Target="slides/slide58.xml"/><Relationship Id="rId58" Type="http://schemas.openxmlformats.org/officeDocument/2006/relationships/slide" Target="slides/slide59.xml"/><Relationship Id="rId59" Type="http://schemas.openxmlformats.org/officeDocument/2006/relationships/slide" Target="slides/slide60.xml"/><Relationship Id="rId60" Type="http://schemas.openxmlformats.org/officeDocument/2006/relationships/slide" Target="slides/slide15.xml"/><Relationship Id="rId61" Type="http://schemas.openxmlformats.org/officeDocument/2006/relationships/slide" Target="slides/slide16.xml"/><Relationship Id="rId62" Type="http://schemas.openxmlformats.org/officeDocument/2006/relationships/slide" Target="slides/slide17.xml"/><Relationship Id="rId63" Type="http://schemas.openxmlformats.org/officeDocument/2006/relationships/slide" Target="slides/slide18.xml"/><Relationship Id="rId64" Type="http://schemas.openxmlformats.org/officeDocument/2006/relationships/slide" Target="slides/slide19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98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Обзор веб-приложения «Управление кросс-функциональной командой». Полиглот-стек: Java (Spring Boot) + Python (FastAPI) +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Определение кросс-функциональной команды — центральная концепция приложения.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Приложение покрывает весь цикл планирования спринта: бэклог, дорожная карта, RICE, Гант, зависимости, аналитика, риски, релизы и настройки.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Дашборд. Сводка проекта одним взглядом. KPI с RAG-подсветкой: health, velocity, TTM, DoD, баги, остаток. Блок «Что требует внимания»: блокеры, перегруз, критичные баги. Кликабельные карточки и sparkline-тренды. Графики ёмкости, velocity, багов и Time to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Дорожная карта. Спринты считаются автоматически. Даты, рабочие дни, ёмкость, план, velocity, % выполнения. Источники — «Параметры» и состав «Команды». Диаграмма процента выполнения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Кварталы. Агрегация по календарным кварталам. Ёмкость, план, velocity, загрузка и % по кварталам. Квартальный roadmap: спринты на шкале дат. Ключевые вехи подтягиваются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RICE — приоритизация. Что делать в первую очередь. RICE = (Reach × Impact × Confidence) / Effort. Авто-расчёт балла, ранга и приоритета (RAG). Фичи выбираются напрямую из «Бэклога» — с автозаполнением и связью-ссылкой.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MoSCoW — приоритизация. Что обязательно, а что подождёт. Доска из 4 колонок: Must / Should / Could / Won't. Требования выбираются напрямую из «Бэклога» — с автозаполнением. Правило баланса: доля Must ≤ ~60% ёмкости спринта.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Доска — интерактивный бесконечный холст. Совместная работа как в Miro. Бесконечный холст: стикеры (с автором и голосованием), текст, фигуры, стрелки-связи, карандаш, изображения, фреймы. Живая совместная работа: курсоры участников, присутствие «● вживую» и синхронизация в реальном времени (WebSocket); доска хранится в общей БД. Интеграции Slack и Jira; фасилитация: таймер; экспорт доски в PNG и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Kanban-доски по направлениям. Отдельные доски: Backend, Frontend, Тестировщики, Аналитики и релизная. Вкладки досок по ролям + «Все задачи» и «Релизная доска». Перетаскивание карточки меняет статус и даты; синхронно с Бэклогом, Гантом и аналитикой. Администратор создаёт доски, переименовывает и добавляет колонки-статусы.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Релизная доска: состав и прогресс. Двусторонняя связь с разделом «Релизы». На карточке релиза — его состав (стори, задачи, дефекты) и прогресс-бар готовности. Статус меняется перетаскиванием и синхронно отражается в «Релизах». Подсказка «можно закрыть релиз», когда все задачи готовы.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Состав релизов: ручное формирование. Явная привязка задач к релизу перетаскиванием. Колонки — релизы (+ «Без релиза»); задача перетаскивается в нужный релиз. Поле «Релиз» у задачи в «Бэклоге» — альтернатива авто-расчёту; кнопка «＋ Релиз». «Проверки данных» ловят пересечения и пропуски диапазонов спринтов.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Бэклог. Источник данных для всех метрик. Редактируемые задачи: тип, оценка, статус, спринт. Поиск, сортировка по колонкам, строка итогов. Отмена удаления; зависимость выбирается из списка.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Диаграмма Ганта. Задачи на шкале дат по спринтам. Красная рамка — критический путь (CPM). Ромбовидный маркер — внешняя зависимость от стрима. Редактирование спринта и зависимостей на месте.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Зависимости. Связи с другими стримами. Задачи, истории и фичи, зависящие от смежных команд. Направление, статус с RAG-подсветкой, риск, владелец. Сводка по статусам/стримам и список для эскалации.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Команда. Основа расчёта ёмкости. Состав команды и доступность каждого участника. Из этого считается ёмкость каждого спринта. Роли: Backend, Frontend, QA, DevOps, Analyst, Designer.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Релизы. Версии по диапазону спринтов. Содержимое считается из «Бэклога» и «Багов». Раскрытие строки в список стори, задач и дефектов. Ссылки-переходы к задачам и багам релиза.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FAQ — справка. Ответы на частые вопросы. Аккордеон вопросов с поиском по 4 категориям. Редактируемая таблица: админ и редактор наполняют FAQ. Те же данные выгружаются на лист FAQ в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Помощник (чат-бот). Встроенный ассистент по приложению. Отвечает по живым данным: velocity, health, баги, зависимости, бюджет. Подсказывает «что требует внимания», объясняет RICE и MoSCoW, ищет по FAQ. Открывает нужный раздел; выполняет команды; работает офлайн.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Журнал событий и логирование. Все события — в отдельной базе PostgreSQL. «История изменений» (версии приложения) — видна всем. Полный журнал: вход, изменения, отказы доступа — администратору. Логирование в отдельную БД, изолированно и отказоустойчиво.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Демо спринта (Sprint Review). Демонстрация инкремента заказчикам. Что показывали, докладчик и участники; обратная связь. Итог: принято / на доработку / отклонено (с KPI приёмки). Результаты влияют на приоритеты бэклога и следующий спринт.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Отчёт-презентация по спринту (PPTX). Готовый отчёт по спринту в один клик. Кнопка «📊 Отчёт» → выбор спринта: конкретный или весь проект. Титул, ключевые метрики и все диаграммы приложения: аналитика (сгорание, CFD, cycle time, распределение, загрузка), риски, Гант, Исикава, OKR, RICE. Для выбранного спринта — его метрики и список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 Map — компетенции команды. Карта навыков в привязке к ролям. Радар-профиль каждого участника по компетенциям его роли (уровни 1–5). Матрица компетенций по направлениям (Backend/Frontend/QA/DevOps/Analyst/Designer) с тепловой заливкой. Кнопка «Обновить компетенции по ролям» формирует набор навыков автоматически; уровни редактируются.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Уровень Agile-зрелости. Самооценка по Scrum, Kanban и SAFe. Вкладки по трём фреймворкам; для каждого — измерения на шкале 1–5 (Начальный…Оптимизирующий). Сводный уровень, профиль-радар, слабое место и рекомендации к следующему уровню. Оценки редактируются и сохраняются (в серверном режиме — в БД).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 отчёт — разведочный анализ. Обзор «здоровья» всех данных приложения. Объём и полнота датасетов, сводная числовая статистика (мин/макс/среднее/медиана/σ). Распределения категорий, кросс-таблица «спринт × статус», аномалии и качество данных. Печать/PDF; данные не нужно выгружать в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Интеграции со всеми продуктами Atlassian. Единый каталог интеграций Atlassian. Jira, Jira Service Management, Jira Product Discovery, Confluence, Compass, Bitbucket, Trello, Opsgenie, Statuspage, Bamboo. Статус подключения по каждому продукту и проверка одним нажатием; действия выполняются на сервере. Ключи задаются переменными окружения; Jira/JSM/JPD/Confluence/Compass используют один аккаунт Atlassian.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Вехи и технический долг. Контрольные точки и управление техдолгом. Вехи: привязка к спринтам и релизам, статус. Техдолг: реестр и тренд «создано / погашено»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Аналитика. Единый расчётный движок метрик. Сгорание, burn-up, CFD, cycle time (контрольная карта). Распределение, загрузка по ролям, ёмкость по кварталам. Прогноз Монте-Карло, предсказуемость (CV), DRE, качество.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Риски. Оценка и анализ причин. Балл = Вероятность × Влияние; уровень — авто. Матрица рисков 5×5 с ранжированием. Диаграмма Исикавы причин срыва сроков спринта.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Баги и ретроспективы. Качество и улучшение процесса. Баги: серьёзность, статус, причина; питают метрику DRE. Ретроспективы: итоги спринтов и action items. Процент закрытия action items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Цели, бюджет и настройки. Цели квартала, стоимость и базовые параметры. OKR: цели и прогресс Key Results. Бюджет: стоимость по ёмкости и накопленный расход. Параметры: старт, focus factor, DoD; календарь праздников.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Роли и доступ (серверная авторизация). Настоящая серверная авторизация и разграничение прав. Вход по логину и паролю; роли хранятся в PostgreSQL (PBKDF2-хэши, bearer-сессии). Права проверяются в Java на каждый запрос: чтение — любой вошедший, запись — Редактор/Администратор. Администратор управляет учётными записями: добавление, смена роли и пароля, отключение, удаление.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Scrum-церемонии: Дэйли и Груминг. Ежедневная синхронизация и подготовка бэклога. Дэйли: что сделано вчера, план на сегодня и блокеры — по дням и участникам. Груминг: оценка, декомпозиция, уточнение и приоритизация (Definition of Ready). Вместе с «Демо» и «Ретроспективами» — полный набор Scrum-церемоний.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Персонал: отпуска и дни рождения. Доступность команды и важные даты. График отпусков: отпуска, больничные, отгулы и командировки — для учёта доступности. Дни рождения: даты участников команды и ближайшие праздники.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Автоматизация планирования. Приложение берёт на себя рутину — от наполнения спринта до контроля качества данных. Бэклог: приоритет (RICE/MoSCoW) и флаг готовности (DoR) прямо в задаче; авто-набор спринта по ёмкости. Отпуска уменьшают ёмкость; итоги церемоний → задачи; циклы и конфликты зависимостей помечаются на Ганте. Импорт из CSV/Jira, авто-предложение отчёта при завершении спринта; помощник выполняет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Ретроспективы: игровые практики Agile. Геймификация ретро для вовлечённости и реальных улучшений. Форматы (Start/Stop/Continue, Sailboat, 4L, Starfish, DAKI), dot-voting и стрик action items. Настроение команды по спринтам, Kudos (благодарности) и эксперименты как проверяемые гипотезы. Team Radar — радар-диаграмма самооценки команды по осям.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Java Spring Boot — ядро (REST API, CRUD, PostgreSQL). Python FastAPI — аналитика. nginx reverse-proxy. docker-compose, CI из трёх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Единый инструмент планирования спринтов: от бэклога до аналитики, с общей БД, живой совместной работой и интеграциями.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jpg"/><Relationship Id="rId4" Type="http://schemas.openxmlformats.org/officeDocument/2006/relationships/image" Target="../media/image3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jpg"/><Relationship Id="rId4" Type="http://schemas.openxmlformats.org/officeDocument/2006/relationships/image" Target="../media/image3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jpg"/><Relationship Id="rId4" Type="http://schemas.openxmlformats.org/officeDocument/2006/relationships/image" Target="../media/image39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jpg"/><Relationship Id="rId4" Type="http://schemas.openxmlformats.org/officeDocument/2006/relationships/image" Target="../media/image4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jpg"/><Relationship Id="rId4" Type="http://schemas.openxmlformats.org/officeDocument/2006/relationships/image" Target="../media/image4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jpg"/><Relationship Id="rId4" Type="http://schemas.openxmlformats.org/officeDocument/2006/relationships/image" Target="../media/image4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Relationship Id="rId4" Type="http://schemas.openxmlformats.org/officeDocument/2006/relationships/image" Target="../media/image45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05840"/>
            <a:ext cx="6035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Управление кросс-функциональной командой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60604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AFC2E6"/>
                </a:solidFill>
                <a:latin typeface="Calibri"/>
              </a:rPr>
              <a:t>Веб-приложение для agile-планирования работы кросс-функциональной команды: данные, метрики и диаграммы в одном месте.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Java · Spring Boot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2887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Python · 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7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1206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7C90B4"/>
                </a:solidFill>
                <a:latin typeface="Calibri"/>
              </a:rPr>
              <a:t>Обзор приложения</a:t>
            </a:r>
          </a:p>
        </p:txBody>
      </p:sp>
      <p:pic>
        <p:nvPicPr>
          <p:cNvPr id="8" name="Picture 7" descr="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371600"/>
            <a:ext cx="5166360" cy="29060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Кросс-функциональная 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6202E"/>
                </a:solidFill>
                <a:latin typeface="Calibri"/>
              </a:rPr>
              <a:t>Кросс-функциональная команда — это группа специалистов из разных областей (разработчиков, дизайнеров, маркетологов, аналитиков, менеджеров и других), которые объединяются для работы над одним конкретным проектом или задачей.</a:t>
            </a:r>
          </a:p>
          <a:p>
            <a:pPr algn="l">
              <a:spcBef>
                <a:spcPts val="0"/>
              </a:spcBef>
            </a:pPr>
            <a:r>
              <a:rPr sz="1900" b="0" i="0">
                <a:solidFill>
                  <a:srgbClr val="47566B"/>
                </a:solidFill>
                <a:latin typeface="Calibri"/>
              </a:rPr>
              <a:t>Ключевая идея в том, чтобы собрать внутри команды всех необходимых экспертов, чтобы она могла самостоятельно пройти путь от идеи до результата, не передавая задачу последовательно из одного отдела в другой.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74920"/>
            <a:ext cx="11064240" cy="109728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1400" b="0" i="0">
                <a:solidFill>
                  <a:srgbClr val="47566B"/>
                </a:solidFill>
                <a:latin typeface="Calibri"/>
              </a:rPr>
              <a:t>Приложение помогает такой команде вести всю работу в одном месте: планирование спринтов, компетенции по ролям (Star Map), зрелость процессов (Scrum/Kanban/SAFe), аналитику и релизы.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Что это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0" i="0">
                <a:solidFill>
                  <a:srgbClr val="47566B"/>
                </a:solidFill>
                <a:latin typeface="Calibri"/>
              </a:rPr>
              <a:t>Единая среда для планирования по двухнедельным спринтам — от бэклога и оценок до аналитики и прогнозов. Всё пересчитывается автоматически при изменении данных.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Спринты и метрики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Ёмкость, план, velocity, % выполнения — из состава команды и параметров.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53712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Диаграмма Ганта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Задачи на шкале дат, критический путь, внешние зависимости.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3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75903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7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RICE-приоритизация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Оценка фич: (Reach × Impact × Confidence) / Effort.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Межстримовые зависимости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От чего зависим у смежных команд: статусы, риск, эскалация.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1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53712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Аналитика и прогнозы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Сгорание, CFD, cycle time, прогноз Монте-Карло, качество.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3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375903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7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Роли и доступ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Серверная авторизация: логин и роли в PostgreSQL.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Мой день и быстрые действия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Стартовая страница и «＋ Создать».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Мои задачи спринта: статус меняется в один клик.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Блокеры, риски и события ближайших 14 дней.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«＋ Создать» — задача, баг, риск, импедимент из любого раздела.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Одна точка состояния и меню пользователя вместо ряда кнопок.</a:t>
            </a:r>
          </a:p>
        </p:txBody>
      </p:sp>
      <p:pic>
        <p:nvPicPr>
          <p:cNvPr id="6" name="Picture 5" descr="s_myd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Простая навигация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15 пунктов вместо 57 разделов — с вкладками.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Родственные разделы — вкладки одного пункта.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Поиск по всем разделам, ⭐ избранное, «Все разделы».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Описание раздела в одну строку, режим «компактно».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Открытый раздел строится сразу — интерфейс в разы быстрее.</a:t>
            </a:r>
          </a:p>
        </p:txBody>
      </p:sp>
      <p:pic>
        <p:nvPicPr>
          <p:cNvPr id="6" name="Picture 5" descr="s_hub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Новый проект за один шаг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Свой проект с нуля вместо демо-данных.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Название, цель, старт и длина спринта, число спринтов.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Команда «Имя — роль» и первые задачи — списком.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Справочники сохраняются, копия данных — в JSON.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Дальше — чек-лист «Первые шаги» на «Моём дне».</a:t>
            </a:r>
          </a:p>
        </p:txBody>
      </p:sp>
      <p:pic>
        <p:nvPicPr>
          <p:cNvPr id="6" name="Picture 5" descr="s_wiz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Дашборд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Сводка проекта одним взглядом.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KPI с RAG-подсветкой: health, velocity, TTM, DoD, баги, остаток.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Блок «Что требует внимания»: блокеры, перегруз, критичные баги.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Кликабельные карточки и sparkline-тренды.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Графики ёмкости, velocity, багов и Time to Market.</a:t>
            </a:r>
          </a:p>
        </p:txBody>
      </p:sp>
      <p:pic>
        <p:nvPicPr>
          <p:cNvPr id="6" name="Picture 5" descr="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🗺️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Дорожная карта</a:t>
            </a:r>
          </a:p>
        </p:txBody>
      </p:sp>
      <p:pic>
        <p:nvPicPr>
          <p:cNvPr id="4" name="Picture 3" descr="road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Спринты считаются автоматически.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Даты, рабочие дни, ёмкость, план, velocity, % выполнения.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Источники — «Параметры» и состав «Команды».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Диаграмма процента выполнения по спринтам.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🗓️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Кварталы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Агрегация по календарным кварталам.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Ёмкость, план, velocity, загрузка и % по кварталам.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Квартальный roadmap: спринты на шкале дат.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Ключевые вехи подтягиваются автоматически.</a:t>
            </a:r>
          </a:p>
        </p:txBody>
      </p:sp>
      <p:pic>
        <p:nvPicPr>
          <p:cNvPr id="6" name="Picture 5" descr="quart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RICE — приоритизация</a:t>
            </a:r>
          </a:p>
        </p:txBody>
      </p:sp>
      <p:pic>
        <p:nvPicPr>
          <p:cNvPr id="4" name="Picture 3" descr="r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Что делать в первую очередь.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RICE = (Reach × Impact × Confidence) / Effort.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Авто-расчёт балла, ранга и приоритета (RAG).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Фичи выбираются напрямую из «Бэклога» — с автозаполнением и связью-ссылкой.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⚖️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WSJF — приоритизация (SAFe)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Максимальная отдача на единицу усилий.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WSJF = Cost of Delay / Job Size (практика SAFe).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Cost of Delay = Business Value + Time Criticality + Risk Reduction.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Авто-расчёт Cost of Delay, WSJF-балла, ранга и приоритета.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Чем выше балл — тем раньше фичу берут в работу.</a:t>
            </a:r>
          </a:p>
        </p:txBody>
      </p:sp>
      <p:pic>
        <p:nvPicPr>
          <p:cNvPr id="7" name="Picture 6" descr="wsj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Цели спринтов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Одно обязательство на спринт.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Sprint Goal по каждому спринту — ценность, а не список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Статус: Запланирована / В работе / Достигнута / Не достигнута.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Столбец «% факт» считается автоматически по готовности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Текущая цель и её статус выводятся на дашборд.</a:t>
            </a:r>
          </a:p>
        </p:txBody>
      </p:sp>
      <p:pic>
        <p:nvPicPr>
          <p:cNvPr id="7" name="Picture 6" descr="sprintGo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MoSCoW — приоритизация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Что обязательно, а что подождёт.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Доска из 4 колонок: Must / Should / Could / Won't.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Требования выбираются напрямую из «Бэклога» — с автозаполнением.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Правило баланса: доля Must ≤ ~60% ёмкости спринта.</a:t>
            </a:r>
          </a:p>
        </p:txBody>
      </p:sp>
      <p:pic>
        <p:nvPicPr>
          <p:cNvPr id="6" name="Picture 5" descr="mosc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интерактивный бесконечный холст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Совместная работа как в Miro.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Бесконечный холст: стикеры (с автором и голосованием), текст, фигуры, стрелки-связи, карандаш, изображения, фреймы.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Живая совместная работа: курсоры участников, присутствие «● вживую» и синхронизация в реальном времени (WebSocket); доска хранится в общей БД.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Интеграции Slack и Jira; фасилитация: таймер; экспорт доски в PNG и PDF.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Подробнее — на следующих пяти слайдах: эргономика, шаблоны, живые данные, сессии и схемы.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эргономика холста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Работа с холстом как в профессиональных редакторах.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Отмена и повтор (Ctrl+Z / Ctrl+Y), копировать, вставить и дублировать (Ctrl+C/V/D) — связи между копиями сохраняются.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Группы, закрепление 🔒, выравнивание и равномерное распределение, привязка к сетке.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Мини-карта и поиск по тексту (Ctrl+F); фрейм переносится вместе с содержимым.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Панель действий появляется при выделении — всё нужное под рукой.</a:t>
            </a:r>
          </a:p>
        </p:txBody>
      </p:sp>
      <p:pic>
        <p:nvPicPr>
          <p:cNvPr id="6" name="Picture 5" descr="board_er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шаблоны ритуалов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Готовая структура встречи одной кнопкой.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Ретро: Start/Stop/Continue, 4L, Mad/Sad/Glad, «Кораблик».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Анализ: Lean Coffee, SWOT, матрица «Влияние/Усилия», Premortem.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Продукт и процесс: Customer Journey Map, Lean Canvas, канбан-колонки, дорожки ответственности.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Шаблон двигается целиком вместе со стикерами; цвет стикера подсказывает колонку.</a:t>
            </a:r>
          </a:p>
        </p:txBody>
      </p:sp>
      <p:pic>
        <p:nvPicPr>
          <p:cNvPr id="6" name="Picture 5" descr="board_tp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живые данные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Холст связан с бэклогом и метриками.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Карточки задач из бэклога: статус меняется кликом, двойной клик открывает задачу.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«Спринт на доску»: задачи текущего спринта по колонкам статусов.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Виджеты-метрики: velocity, выполнение и цель спринта, health-index, риск срыва, баги.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Стикер превращается в задачу, риск, импедимент, решение (ADR), action item или урок.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🗳️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проведение сессий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Фасилитация ретро и воркшопов.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Голосование точками: лимит на участника, скрытый режим, раскрытие итогов и медали лидеров.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Анонимный ввод: авторы стикеров скрыты до раскрытия.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Показ по фреймам как по слайдам и режим «следовать за ведущим».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Комментарии к элементам с @упоминаниями и сводка обсуждений.</a:t>
            </a:r>
          </a:p>
        </p:txBody>
      </p:sp>
      <p:pic>
        <p:nvPicPr>
          <p:cNvPr id="6" name="Picture 5" descr="board_s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схемы и диаграммы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Процессы, идеи и данные на одном холсте.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Блок-схемы: начало/конец, процесс, решение, ввод/вывод, документ, база данных; подписи стрелок.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Майнд-карта: Tab — ветка, Enter — соседняя, авто-раскладка в обе стороны.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Таблица на холсте и дорожки ответственности по ролям команды.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Авто-раскладка выделенного сеткой или деревом по связям.</a:t>
            </a:r>
          </a:p>
        </p:txBody>
      </p:sp>
      <p:pic>
        <p:nvPicPr>
          <p:cNvPr id="6" name="Picture 5" descr="board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🗃️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Kanban-доски по направлениям</a:t>
            </a:r>
          </a:p>
        </p:txBody>
      </p:sp>
      <p:pic>
        <p:nvPicPr>
          <p:cNvPr id="4" name="Picture 3" descr="kanb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Отдельные доски: Backend, Frontend, Тестировщики, Аналитики и релизная.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Вкладки досок по ролям + «Все задачи» и «Релизная доска».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Перетаскивание карточки меняет статус и даты; синхронно с Бэклогом, Гантом и аналитикой.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Администратор создаёт доски, переименовывает и добавляет колонки-статусы.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Релизная доска: состав и прогресс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Двусторонняя связь с разделом «Релизы».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 карточке релиза — его состав (стори, задачи, дефекты) и прогресс-бар готовности.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Статус меняется перетаскиванием и синхронно отражается в «Релизах».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Подсказка «можно закрыть релиз», когда все задачи готовы.</a:t>
            </a:r>
          </a:p>
        </p:txBody>
      </p:sp>
      <p:pic>
        <p:nvPicPr>
          <p:cNvPr id="6" name="Picture 5" descr="kanban_rele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Состав релизов: ручное формирование</a:t>
            </a:r>
          </a:p>
        </p:txBody>
      </p:sp>
      <p:pic>
        <p:nvPicPr>
          <p:cNvPr id="4" name="Picture 3" descr="kanban_compo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Явная привязка задач к релизу перетаскиванием.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Колонки — релизы (+ «Без релиза»); задача перетаскивается в нужный релиз.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Поле «Релиз» у задачи в «Бэклоге» — альтернатива авто-расчёту; кнопка «＋ Релиз».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«Проверки данных» ловят пересечения и пропуски диапазонов спринтов.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🗂️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Бэклог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Источник данных для всех метрик.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Редактируемые задачи: тип, оценка, статус, спринт.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Поиск, сортировка по колонкам, строка итогов.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Отмена удаления; зависимость выбирается из списка.</a:t>
            </a:r>
          </a:p>
        </p:txBody>
      </p:sp>
      <p:pic>
        <p:nvPicPr>
          <p:cNvPr id="6" name="Picture 5" descr="backl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Диаграмма Ганта</a:t>
            </a:r>
          </a:p>
        </p:txBody>
      </p:sp>
      <p:pic>
        <p:nvPicPr>
          <p:cNvPr id="4" name="Picture 3" descr="gant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Задачи на шкале дат по спринтам.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Красная рамка — критический путь (CPM).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Ромбовидный маркер — внешняя зависимость от стрима.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Редактирование спринта и зависимостей на месте.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Зависимости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Связи с другими стримами.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Задачи, истории и фичи, зависящие от смежных команд.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Направление, статус с RAG-подсветкой, риск, владелец.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Сводка по статусам/стримам и список для эскалации.</a:t>
            </a:r>
          </a:p>
        </p:txBody>
      </p:sp>
      <p:pic>
        <p:nvPicPr>
          <p:cNvPr id="6" name="Picture 5" descr="dep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Программная доска (PI Planning)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Межкомандные зависимости на горизонте.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Матрица «стрим × спринт» (практика SAFe PI Planning).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⬅ мы зависим, ➡ зависят от нас, ◆ веха.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Цвет статуса: получено / ожидается / заблокировано.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Красные ячейки — кандидаты на эскалацию.</a:t>
            </a:r>
          </a:p>
        </p:txBody>
      </p:sp>
      <p:pic>
        <p:nvPicPr>
          <p:cNvPr id="7" name="Picture 6" descr="pi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Контроль scope (scope creep)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Состав спринтов под контролем.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Журнал добавлений, переносов и удалений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Базовый срез состава + сравнение с текущим.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Авто-переносы из «Бэклога» попадают в лог.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Контроль раздувания состава спринта/релиза.</a:t>
            </a:r>
          </a:p>
        </p:txBody>
      </p:sp>
      <p:pic>
        <p:nvPicPr>
          <p:cNvPr id="7" name="Picture 6" descr="sco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Команда</a:t>
            </a:r>
          </a:p>
        </p:txBody>
      </p:sp>
      <p:pic>
        <p:nvPicPr>
          <p:cNvPr id="4" name="Picture 3" descr="t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Основа расчёта ёмкости.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Состав команды и доступность каждого участника.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Из этого считается ёмкость каждого спринта.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Роли: Backend, Frontend, QA, DevOps, Analyst, Designer.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Релизы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Версии по диапазону спринтов.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Содержимое считается из «Бэклога» и «Багов».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Раскрытие строки в список стори, задач и дефектов.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Ссылки-переходы к задачам и багам релиза.</a:t>
            </a:r>
          </a:p>
        </p:txBody>
      </p:sp>
      <p:pic>
        <p:nvPicPr>
          <p:cNvPr id="6" name="Picture 5" descr="relea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FAQ — справка</a:t>
            </a:r>
          </a:p>
        </p:txBody>
      </p:sp>
      <p:pic>
        <p:nvPicPr>
          <p:cNvPr id="4" name="Picture 3" descr="fa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Ответы на частые вопросы.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Аккордеон вопросов с поиском по 4 категориям.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Редактируемая таблица: админ и редактор наполняют FAQ.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Те же данные выгружаются на лист FAQ в Excel.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Помощник (чат-бот)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Встроенный ассистент по приложению.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•  Знает все 56 разделов и функций: отвечает на вопрос о любом («что такое Гант», «зачем Bus factor»).</a:t>
            </a:r>
          </a:p>
          <a:p>
            <a:r>
              <a:t>•  Перечисляет разделы и блоки, рассказывает, что нового; отвечает по живым данным (velocity, баги, бюджет).</a:t>
            </a:r>
          </a:p>
          <a:p>
            <a:r>
              <a:t>•  Открывает нужный раздел и выполняет команды; работает офлайн. База знаний самообновляется после релиза.</a:t>
            </a:r>
          </a:p>
        </p:txBody>
      </p:sp>
      <p:pic>
        <p:nvPicPr>
          <p:cNvPr id="6" name="Picture 5" descr="ch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Журнал событий и логирование</a:t>
            </a:r>
          </a:p>
        </p:txBody>
      </p:sp>
      <p:pic>
        <p:nvPicPr>
          <p:cNvPr id="4" name="Picture 3" descr="aud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Все события — в отдельной базе PostgreSQL.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«История изменений» (версии приложения) — видна всем.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Полный журнал: вход, изменения, отказы доступа — администратору.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Логирование в отдельную БД, изолированно и отказоустойчиво.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Демо спринта (Sprint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Демонстрация инкремента заказчикам.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Что показывали, докладчик и участники; обратная связь.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Итог: принято / на доработку / отклонено (с KPI приёмки).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Результаты влияют на приоритеты бэклога и следующий спринт.</a:t>
            </a:r>
          </a:p>
        </p:txBody>
      </p:sp>
      <p:pic>
        <p:nvPicPr>
          <p:cNvPr id="6" name="Picture 5" descr="dem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Отчёт-презентация по спринту (PPTX)</a:t>
            </a:r>
          </a:p>
        </p:txBody>
      </p:sp>
      <p:pic>
        <p:nvPicPr>
          <p:cNvPr id="4" name="Picture 3" descr="pptxd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Готовый отчёт по спринту в один клик.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Кнопка «📊 Отчёт» → выбор спринта: конкретный или весь проект.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Титул, ключевые метрики и все диаграммы приложения: аналитика (сгорание, CFD, cycle time, распределение, загрузка), риски, Гант, Исикава, OKR, RICE.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Для выбранного спринта — его метрики и список задач.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Star Map — компетенции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Карта навыков в привязке к ролям.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Радар-профиль каждого участника по компетенциям его роли (уровни 1–5).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Матрица компетенций по направлениям (Backend/Frontend/QA/DevOps/Analyst/Designer) с тепловой заливкой.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Кнопка «Обновить компетенции по ролям» формирует набор навыков автоматически; уровни редактируются.</a:t>
            </a:r>
          </a:p>
        </p:txBody>
      </p:sp>
      <p:pic>
        <p:nvPicPr>
          <p:cNvPr id="6" name="Picture 5" descr="star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Уровень Agile-зрелости</a:t>
            </a:r>
          </a:p>
        </p:txBody>
      </p:sp>
      <p:pic>
        <p:nvPicPr>
          <p:cNvPr id="4" name="Picture 3" descr="ag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Самооценка по Scrum, Kanban и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Вкладки по трём фреймворкам; для каждого — измерения на шкале 1–5 (Начальный…Оптимизирующий).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Сводный уровень, профиль-радар, слабое место и рекомендации к следующему уровню.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Оценки редактируются и сохраняются (в серверном режиме — в БД).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EDA отчёт — разведочный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Обзор «здоровья» всех данных приложения.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Объём и полнота датасетов, сводная числовая статистика (мин/макс/среднее/медиана/σ).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Распределения категорий, кросс-таблица «спринт × статус», аномалии и качество данных.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Печать/PDF; данные не нужно выгружать в Excel.</a:t>
            </a:r>
          </a:p>
        </p:txBody>
      </p:sp>
      <p:pic>
        <p:nvPicPr>
          <p:cNvPr id="6" name="Picture 5" descr="e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Интеграции со всеми продуктами Atlassian</a:t>
            </a:r>
          </a:p>
        </p:txBody>
      </p:sp>
      <p:pic>
        <p:nvPicPr>
          <p:cNvPr id="4" name="Picture 3" descr="integrat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Единый каталог интеграций Atlassian.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Jira, Jira Service Management, Jira Product Discovery, Confluence, Compass, Bitbucket, Trello, Opsgenie, Statuspage, Bamboo.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Статус подключения по каждому продукту и проверка одним нажатием; действия выполняются на сервере.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Ключи задаются переменными окружения; Jira/JSM/JPD/Confluence/Compass используют один аккаунт Atlassian.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Вехи и технический долг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Контрольные точки и управление техдолгом.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Вехи: привязка к спринтам и релизам, статус.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Техдолг: реестр и тренд «создано / погашено» по спринтам.</a:t>
            </a:r>
          </a:p>
        </p:txBody>
      </p:sp>
      <p:pic>
        <p:nvPicPr>
          <p:cNvPr id="6" name="Picture 5" descr="milesto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Вехи</a:t>
            </a:r>
          </a:p>
        </p:txBody>
      </p:sp>
      <p:pic>
        <p:nvPicPr>
          <p:cNvPr id="8" name="Picture 7" descr="deb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Технический долг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Единый расчётный движок метрик.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Сгорание, burn-up, CFD, cycle time (контрольная карта).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Распределение, загрузка по ролям, ёмкость по кварталам.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Прогноз Монте-Карло, предсказуемость (CV), DRE, качество.</a:t>
            </a:r>
          </a:p>
        </p:txBody>
      </p:sp>
      <p:pic>
        <p:nvPicPr>
          <p:cNvPr id="6" name="Picture 5" descr="analy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KPI и сгорание</a:t>
            </a:r>
          </a:p>
        </p:txBody>
      </p:sp>
      <p:pic>
        <p:nvPicPr>
          <p:cNvPr id="8" name="Picture 7" descr="analytic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Cycle time и распределение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⚠️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Риски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Оценка и анализ причин.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Балл = Вероятность × Влияние; уровень — авто.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Матрица рисков 5×5 с ранжированием.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Диаграмма Исикавы причин срыва сроков спринта.</a:t>
            </a:r>
          </a:p>
        </p:txBody>
      </p:sp>
      <p:pic>
        <p:nvPicPr>
          <p:cNvPr id="6" name="Picture 5" descr="ris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Матрица рисков</a:t>
            </a:r>
          </a:p>
        </p:txBody>
      </p:sp>
      <p:pic>
        <p:nvPicPr>
          <p:cNvPr id="8" name="Picture 7" descr="risks_ishikaw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Диаграмма Исикавы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Баги и ретроспективы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Качество и улучшение процесса.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Баги: серьёзность, статус, причина; питают метрику DRE.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Ретроспективы: итоги спринтов и action items.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Процент закрытия action items по спринтам.</a:t>
            </a:r>
          </a:p>
        </p:txBody>
      </p:sp>
      <p:pic>
        <p:nvPicPr>
          <p:cNvPr id="6" name="Picture 5" descr="bu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Реестр багов</a:t>
            </a:r>
          </a:p>
        </p:txBody>
      </p:sp>
      <p:pic>
        <p:nvPicPr>
          <p:cNvPr id="8" name="Picture 7" descr="ret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Ретроспективы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Цели, бюджет и настройки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Цели квартала, стоимость и базовые параметры.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OKR: цели и прогресс Key Results.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Бюджет: стоимость по ёмкости и накопленный расход.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Параметры: старт, focus factor, DoD; календарь праздников.</a:t>
            </a:r>
          </a:p>
        </p:txBody>
      </p:sp>
      <p:pic>
        <p:nvPicPr>
          <p:cNvPr id="6" name="Picture 5" descr="ok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OKR</a:t>
            </a:r>
          </a:p>
        </p:txBody>
      </p:sp>
      <p:pic>
        <p:nvPicPr>
          <p:cNvPr id="8" name="Picture 7" descr="budg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Бюджет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Роли и доступ (серверная авторизация)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Настоящая серверная авторизация и разграничение прав.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Вход по логину и паролю; роли хранятся в PostgreSQL (PBKDF2-хэши, bearer-сессии).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Права проверяются в Java на каждый запрос: чтение — любой вошедший, запись — Редактор/Администратор.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Администратор управляет учётными записями: добавление, смена роли и пароля, отключение, удаление.</a:t>
            </a:r>
          </a:p>
        </p:txBody>
      </p:sp>
      <p:pic>
        <p:nvPicPr>
          <p:cNvPr id="6" name="Picture 5" descr="log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Вход по логину и паролю</a:t>
            </a:r>
          </a:p>
        </p:txBody>
      </p:sp>
      <p:pic>
        <p:nvPicPr>
          <p:cNvPr id="8" name="Picture 7" descr="use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Управление ролями (администратор)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Scrum-церемонии: Дэйли и Груминг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Ежедневная синхронизация и подготовка бэклога.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Дэйли: что сделано вчера, план на сегодня и блокеры — по дням и участникам.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Груминг: оценка, декомпозиция, уточнение и приоритизация (Definition of Ready).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Вместе с «Демо» и «Ретроспективами» — полный набор Scrum-церемоний.</a:t>
            </a:r>
          </a:p>
        </p:txBody>
      </p:sp>
      <p:pic>
        <p:nvPicPr>
          <p:cNvPr id="6" name="Picture 5" descr="dai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Дэйли (Daily Standup)</a:t>
            </a:r>
          </a:p>
        </p:txBody>
      </p:sp>
      <p:pic>
        <p:nvPicPr>
          <p:cNvPr id="8" name="Picture 7" descr="groom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Груминг (Backlog Refinement)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🏖️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Персонал: отпуска и дни рождения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Доступность команды и важные даты.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График отпусков: отпуска, больничные, отгулы и командировки — для учёта доступности.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Дни рождения: даты участников команды и ближайшие праздники.</a:t>
            </a:r>
          </a:p>
        </p:txBody>
      </p:sp>
      <p:pic>
        <p:nvPicPr>
          <p:cNvPr id="6" name="Picture 5" descr="va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График отпусков</a:t>
            </a:r>
          </a:p>
        </p:txBody>
      </p:sp>
      <p:pic>
        <p:nvPicPr>
          <p:cNvPr id="8" name="Picture 7" descr="birthday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Дни рождения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Автоматизация планирования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Приложение берёт на себя рутину — от наполнения спринта до контроля качества данных.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Бэклог: приоритет (RICE/MoSCoW) и флаг готовности (DoR) прямо в задаче; авто-набор спринта по ёмкости.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Отпуска уменьшают ёмкость; итоги церемоний → задачи; циклы и конфликты зависимостей помечаются на Ганте.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Импорт из CSV/Jira, авто-предложение отчёта при завершении спринта; помощник выполняет команды.</a:t>
            </a:r>
          </a:p>
        </p:txBody>
      </p:sp>
      <p:pic>
        <p:nvPicPr>
          <p:cNvPr id="6" name="Picture 5" descr="backl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Приоритет и DoR в задаче, авто-набор</a:t>
            </a:r>
          </a:p>
        </p:txBody>
      </p:sp>
      <p:pic>
        <p:nvPicPr>
          <p:cNvPr id="8" name="Picture 7" descr="check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Проверки: целостность, циклы и конфликты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Ретроспективы: игровые практики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Геймификация ретро для вовлечённости и реальных улучшений.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Форматы (Start/Stop/Continue, Sailboat, 4L, Starfish, DAKI), dot-voting и стрик action items.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Настроение команды по спринтам, Kudos (благодарности) и эксперименты как проверяемые гипотезы.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Team Radar — радар-диаграмма самооценки команды по осям.</a:t>
            </a:r>
          </a:p>
        </p:txBody>
      </p:sp>
      <p:pic>
        <p:nvPicPr>
          <p:cNvPr id="6" name="Picture 5" descr="ret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Форматы, голоса и стрик</a:t>
            </a:r>
          </a:p>
        </p:txBody>
      </p:sp>
      <p:pic>
        <p:nvPicPr>
          <p:cNvPr id="8" name="Picture 7" descr="retr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Настроение, эксперименты и Team Radar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Архитектура и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D5BE3"/>
                </a:solidFill>
                <a:latin typeface="Calibri"/>
              </a:rPr>
              <a:t>Полиглот-архитектура с чёткой ролью каждого сервиса; всё поднимается через docker-compose.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442155"/>
            <a:ext cx="10972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Java Spring Boot — REST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/state (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оптимистичная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блокировка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версий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), CRUD,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авторизация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; Python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FastAPI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—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тот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же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движок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метрик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PostgreSQL (Flyway V1–V4) +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отдельная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БД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журнала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; WebSocket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ws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/board —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живая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совместная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работа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над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доской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CI (GitHub Actions):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тесты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Java (H2), Python (+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testcontainers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) и e2e; nginx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проксирует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, /analytics и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ws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</p:txBody>
      </p:sp>
      <p:pic>
        <p:nvPicPr>
          <p:cNvPr id="6" name="Picture 5" descr="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EVM — освоенный объём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Прогноз сроков и бюджета.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PV/EV/AC, индексы CPI и SPI.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Прогноз EAC/ETC/VAC и S-кривая.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Отклонение от базового плана.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Раннее предупреждение по срокам и деньгам.</a:t>
            </a:r>
          </a:p>
        </p:txBody>
      </p:sp>
      <p:pic>
        <p:nvPicPr>
          <p:cNvPr id="7" name="Picture 6" descr="ev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Стейкхолдеры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Влияние, интерес, вовлечённость.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Реестр стейкхолдеров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Матрица «Влияние / Интерес».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Текущий и целевой уровень вовлечённости.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Стратегия и разрыв вовлечённости.</a:t>
            </a:r>
          </a:p>
        </p:txBody>
      </p:sp>
      <p:pic>
        <p:nvPicPr>
          <p:cNvPr id="7" name="Picture 6" descr="stakehol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Иерархия работ (WBS)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Декомпозиция с роллапом.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Эпик → Фича → История → Задача.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Связь по полю «Родитель».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Суммирование объёма и прогресса снизу вверх.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Совокупный прогресс эпика.</a:t>
            </a:r>
          </a:p>
        </p:txBody>
      </p:sp>
      <p:pic>
        <p:nvPicPr>
          <p:cNvPr id="7" name="Picture 6" descr="wb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Story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Срезы ценности по релизам.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Активности (путь) × релизы.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Верхняя полоса — MVP.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Планирование релизов срезами.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Сквозной пользовательский сценарий.</a:t>
            </a:r>
          </a:p>
        </p:txBody>
      </p:sp>
      <p:pic>
        <p:nvPicPr>
          <p:cNvPr id="7" name="Picture 6" descr="story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Planning Poker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Оценка и консенсус.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Голоса участников в Story Points.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Медиана, разброс, консенсус по Фибоначчи.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Большой разброс — обсудить задачу.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Применение оценки к задаче.</a:t>
            </a:r>
          </a:p>
        </p:txBody>
      </p:sp>
      <p:pic>
        <p:nvPicPr>
          <p:cNvPr id="7" name="Picture 6" descr="po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Портфель проектов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Обзор для PMO.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Несколько проектов: RAG, health.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Velocity, бюджет, прогресс.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Снимок текущего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Здоровье и бюджет портфеля.</a:t>
            </a:r>
          </a:p>
        </p:txBody>
      </p:sp>
      <p:pic>
        <p:nvPicPr>
          <p:cNvPr id="7" name="Picture 6" descr="portfol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Статус-отчёт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Одной кнопкой.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Авто-отчёт RAG из данных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Метрики, цель, риски, сделанное.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Экспорт в Markdown.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Отправка в Slack.</a:t>
            </a:r>
          </a:p>
        </p:txBody>
      </p:sp>
      <p:pic>
        <p:nvPicPr>
          <p:cNvPr id="7" name="Picture 6" descr="status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DORA — производительность доставки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Производительность доставки.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Частота деплоев, Lead Time.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Change Failure Rate, MTTR.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Уровни Elite/High/Medium/Low.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Из деплоев и инцидентов.</a:t>
            </a:r>
          </a:p>
        </p:txBody>
      </p:sp>
      <p:pic>
        <p:nvPicPr>
          <p:cNvPr id="7" name="Picture 6" descr="do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Team Health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Самочувствие команды.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Модель Spotify Squad.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Светофор по измерениям.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Тренд ↑/→/↓.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Красные зоны — темы для ретро.</a:t>
            </a:r>
          </a:p>
        </p:txBody>
      </p:sp>
      <p:pic>
        <p:nvPicPr>
          <p:cNvPr id="7" name="Picture 6" descr="health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Bus factor / покрытие компетенций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Риск ключевого человека.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Носители каждого навыка (Star Map).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Одиночные точки отказа (SPOF).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Непокрытые навыки.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Цель: ≥ 2 носителя на навык.</a:t>
            </a:r>
          </a:p>
        </p:txBody>
      </p:sp>
      <p:pic>
        <p:nvPicPr>
          <p:cNvPr id="7" name="Picture 6" descr="busfac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Инциденты и постмортемы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Надёжность в проде.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Реестр прод-инцидентов.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Время восстановления (MTTR).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Постмортемы и действия.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Питает DORA (MTTR/CFR).</a:t>
            </a:r>
          </a:p>
        </p:txBody>
      </p:sp>
      <p:pic>
        <p:nvPicPr>
          <p:cNvPr id="7" name="Picture 6" descr="incid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3152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AFC2E6"/>
                </a:solidFill>
                <a:latin typeface="Calibri"/>
              </a:rPr>
              <a:t>Единый инструмент планирования спринтов: от бэклога до аналитики, с общей БД и понятной архитектурой.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31720"/>
            <a:ext cx="658368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Kanban, RICE, MoSCoW, Scrum-церемонии, доска-холст и ещё 20+ разделов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Живая совместная работа над доской (WebSocket) и интеграции Slack/Jira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Серверная авторизация с ролями в PostgreSQL и проверкой прав в Java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Логирование всех событий в отдельную базу; история изменений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Отчёт-презентация по спринту (PPTX) прямо из приложения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Автоматизация: авто-набор спринта, приоритизация, проверки данных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Встроенный чат-бот помощник по данным проекта (офлайн)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Полиглот-стек Java + Python + PostgreSQL, CI и docker-compose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394960"/>
            <a:ext cx="6675120" cy="603504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50" b="1" i="0">
                <a:solidFill>
                  <a:srgbClr val="CFE0FF"/>
                </a:solidFill>
                <a:latin typeface="Calibri"/>
              </a:rPr>
              <a:t>github.com/neoandrey1985/Planirovanie</a:t>
            </a:r>
          </a:p>
        </p:txBody>
      </p:sp>
      <p:pic>
        <p:nvPicPr>
          <p:cNvPr id="6" name="Picture 5" descr="analy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4069080" cy="2288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4341</Words>
  <Application>Microsoft Office PowerPoint</Application>
  <PresentationFormat>Широкоэкранный</PresentationFormat>
  <Paragraphs>381</Paragraphs>
  <Slides>49</Slides>
  <Notes>38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Андрей Агафонов</cp:lastModifiedBy>
  <cp:revision>2</cp:revision>
  <dcterms:created xsi:type="dcterms:W3CDTF">2013-01-27T09:14:16Z</dcterms:created>
  <dcterms:modified xsi:type="dcterms:W3CDTF">2026-10-06T07:28:01Z</dcterms:modified>
  <cp:category/>
</cp:coreProperties>
</file>