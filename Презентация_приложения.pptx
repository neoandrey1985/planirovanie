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notesMasterIdLst>
    <p:notesMasterId r:id="rId3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notesMaster" Target="notesMasters/notesMaster1.xml"/><Relationship Id="rId36" Type="http://schemas.openxmlformats.org/officeDocument/2006/relationships/presProps" Target="presProps.xml"/><Relationship Id="rId37" Type="http://schemas.openxmlformats.org/officeDocument/2006/relationships/viewProps" Target="viewProps.xml"/><Relationship Id="rId38" Type="http://schemas.openxmlformats.org/officeDocument/2006/relationships/theme" Target="theme/theme1.xml"/><Relationship Id="rId3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Обзор веб-приложения для планирования спринтов. Полиглот-стек: Java (Spring Boot) + Python (FastAPI) + PostgreSQL, единый веб-интерфейс.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Приложение покрывает весь цикл планирования спринта: бэклог и оценки, дорожная карта и кварталы, RICE, Гант, зависимости, аналитика, риски, релизы и настройки.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Дашборд. Сводка проекта одним взглядом. KPI с RAG-подсветкой: health, velocity, TTM, DoD, баги, остаток. Блок «Что требует внимания»: блокеры, перегруз, критичные баги. Кликабельные карточки и sparkline-тренды. Графики ёмкости, velocity, багов и Time to Market.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Дорожная карта. Спринты считаются автоматически. Даты, рабочие дни, ёмкость, план, velocity, % выполнения. Источники — «Параметры» и состав «Команды». Диаграмма процента выполнения по спринтам.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Кварталы. Агрегация по календарным кварталам. Ёмкость, план, velocity, загрузка и % по кварталам. Квартальный roadmap: спринты на шкале дат. Ключевые вехи подтягиваются автоматически.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RICE — приоритизация. Что делать в первую очередь. RICE = (Reach × Impact × Confidence) / Effort. Авто-расчёт балла, ранга и приоритета (RAG). Фичи выбираются напрямую из «Бэклога» — с автозаполнением и связью-ссылкой на задачу.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MoSCoW — приоритизация. Что обязательно, а что подождёт. Доска из 4 колонок: Must / Should / Could / Won't. Требования выбираются напрямую из «Бэклога» — с автозаполнением и связью-ссылкой на задачу. Правило баланса: доля Must ≤ ~60% ёмкости спринта.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Доска — интерактивный бесконечный холст. Совместная работа как в Miro. Бесконечный холст с панорамой и масштабом: стикеры (с автором и голосованием), текст, фигуры, стрелки-связи, карандаш, изображения, фреймы. Выделение, перемещение, изменение размера, палитра цветов; изменения сохраняются автоматически. Фасилитация: таймер; экспорт доски в PNG и PDF.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Kanban-доски по направлениям. Отдельные доски: Backend, Frontend, Тестировщики, Аналитики и релизная. Вкладки досок по ролям + «Все задачи» и «Релизная доска». Перетаскивание карточки меняет статус и даты; синхронно с Бэклогом, Гантом и аналитикой. Администратор создаёт доски, переименовывает и добавляет колонки-статусы.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Релизная доска: состав и прогресс релизов. Двусторонняя связь с разделом «Релизы». На карточке релиза — его состав (стори, задачи, дефекты по диапазону спринтов) и прогресс-бар готовности. Статус меняется перетаскиванием и синхронно отражается в «Релизах»; состав пересчитывается автоматически. Подсказка «можно закрыть релиз», когда все задачи готовы; клик по элементу открывает «Бэклог»/«Баги».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Состав релизов: ручное формирование. Явная привязка задач к релизу перетаскиванием. Колонки — релизы (+ «Без релиза»); задача перетаскивается в нужный релиз и привязывается явно (приоритет над спринтами). Поле «Релиз» у задачи в «Бэклоге» — альтернатива авто-расчёту; кнопка «＋ Релиз» создаёт релиз на месте. «Проверки данных» ловят пересечения и пропуски диапазонов спринтов релизов.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Бэклог. Источник данных для всех метрик. Редактируемые задачи: тип, оценка, статус, спринт. Поиск, сортировка по колонкам, строка итогов. Отмена удаления; зависимость выбирается из списка.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Диаграмма Ганта. Задачи на шкале дат по спринтам. Красная рамка — критический путь (CPM). Ромбовидный маркер — внешняя зависимость от стрима. Редактирование спринта и зависимостей на месте.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Зависимости. Связи с другими стримами. Задачи, истории и фичи, зависящие от смежных команд. Направление, статус с RAG-подсветкой, риск, владелец. Сводка по статусам/стримам и список для эскалации.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Команда. Основа расчёта ёмкости. Состав команды и доступность каждого участника. Из этого считается ёмкость каждого спринта. Роли: Backend, Frontend, QA, DevOps, Analyst, Designer.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Релизы. Версии по диапазону спринтов. Содержимое считается из «Бэклога» и «Багов». Раскрытие строки в список стори, задач и дефектов. Ссылки-переходы к задачам и багам релиза.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FAQ — справка. Ответы на частые вопросы. Аккордеон вопросов с поиском по 4 категориям. Редактируемая таблица: админ и редактор наполняют FAQ. Те же данные выгружаются на лист FAQ в Excel.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Помощник (чат-бот). Встроенный ассистент по приложению. Отвечает по живым данным: velocity, health, баги, зависимости, бюджет, прогноз. Подсказывает «что требует внимания», объясняет RICE и MoSCoW, ищет по FAQ. Открывает нужный раздел по запросу; работает офлайн, без внешних сервисов.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Журнал событий и логирование. Все события — в отдельной базе PostgreSQL. «История изменений» (версии приложения) — видна всем пользователям. Полный журнал событий: вход, изменения данных, отказы доступа, действия — администратору. Логирование в отдельную БД PostgreSQL, изолированно и отказоустойчиво (не мешает работе).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Демо спринта (Sprint Review). Демонстрация инкремента заказчикам. Что показывали, докладчик и участники; собранная обратная связь. Итог: принято / на доработку / отклонено (с KPI приёмки). Результаты влияют на приоритеты бэклога и следующий спринт.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Отчёт-презентация по спринту (PPTX). Готовый отчёт по спринту в один клик. Кнопка «📊 Отчёт» → выбор спринта: конкретный или весь проект. Титул, ключевые метрики и графики: ёмкость/velocity, выполнение, баги, TTM, настроение, MoSCoW, Team Radar. Для выбранного спринта — его метрики и список задач; генерация прямо в браузере.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Вехи и технический долг. Контрольные точки и управление техдолгом. Вехи: привязка к спринтам и релизам, статус. Техдолг: реестр и тренд «создано / погашено» по спринтам.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Аналитика. Единый расчётный движок метрик. Сгорание, burn-up, CFD, cycle time (контрольная карта). Распределение, загрузка по ролям, ёмкость по кварталам. Прогноз Монте-Карло, предсказуемость (CV), DRE, качество.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Риски. Оценка и анализ причин. Балл = Вероятность × Влияние; уровень — авто. Матрица рисков 5×5 с ранжированием. Диаграмма Исикавы причин срыва сроков спринта.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Баги и ретроспективы. Качество и улучшение процесса. Баги: серьёзность, статус, причина; питают метрику DRE. Ретроспективы: итоги спринтов и action items. Процент закрытия action items по спринтам.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Цели, бюджет и настройки. Цели квартала, стоимость и базовые параметры. OKR: цели и прогресс Key Results. Бюджет: стоимость по ёмкости и накопленный расход. Параметры: старт, focus factor, DoD; календарь праздников.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Роли и доступ (серверная авторизация). Настоящая серверная авторизация и разграничение прав. Вход по логину и паролю; роли Просмотр / Редактор / Администратор хранятся в PostgreSQL (PBKDF2-хэши, bearer-сессии). Права проверяются в Java на каждый запрос: чтение — любой вошедший, запись — только Редактор или Администратор. Администратор управляет учётными записями: добавление, смена роли и пароля, отключение, удаление.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Scrum-церемонии: Дэйли и Груминг. Ежедневная синхронизация и подготовка бэклога. Дэйли: что сделано вчера, план на сегодня и блокеры — по дням и участникам. Груминг: оценка, декомпозиция, уточнение и приоритизация (Definition of Ready). Задачи выбираются напрямую из «Бэклога» с автозаполнением и связью-ссылкой. Вместе с «Демо спринта» и «Ретроспективами» — полный набор Scrum-церемоний.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Персонал: отпуска и дни рождения. Доступность команды и важные даты. График отпусков: отпуска, больничные, отгулы и командировки — для учёта доступности при планировании. Дни рождения: даты участников команды и ближайшие праздники (с обратным отсчётом).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Автоматизация планирования. Приложение берёт на себя рутину — от наполнения спринта до контроля качества данных. Бэклог: приоритет (RICE/MoSCoW) и флаг готовности (DoR) прямо в задаче; авто-набор спринта по ёмкости с учётом готовности и зависимостей. Отпуска уменьшают ёмкость; итоги церемоний → задачи; циклы и конфликты зависимостей помечаются на Ганте и в «Проверках данных». Импорт из CSV/Jira, авто-предложение отчёта при завершении спринта; помощник выполняет команды («набери спринт», «в груминг», «синхронизируй готовность»).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Ретроспективы: игровые практики Agile. Геймификация ретро для вовлечённости и реальных улучшений. Форматы (Start/Stop/Continue, Sailboat, 4L, Starfish, DAKI), dot-voting по пунктам и стрик закрытых action items. Настроение команды по спринтам с трендом, Kudos (благодарности) и эксперименты как проверяемые гипотезы с метрикой. Team Radar — радар-диаграмма самооценки команды по осям (текущий и прошлый спринт).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Java Spring Boot — ядро (REST API, CRUD, PostgreSQL через JPA). Python FastAPI — сервис аналитики поверх той же БД. UI на nginx с reverse-proxy. Оркестрация docker-compose, CI из трёх задач.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Итог и ссылки. Репозиторий: github.com/neoandrey1985/Planirovanie.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g"/><Relationship Id="rId2" Type="http://schemas.openxmlformats.org/officeDocument/2006/relationships/image" Target="../media/image-22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image" Target="../media/image-23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g"/><Relationship Id="rId2" Type="http://schemas.openxmlformats.org/officeDocument/2006/relationships/image" Target="../media/image-24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jpg"/><Relationship Id="rId2" Type="http://schemas.openxmlformats.org/officeDocument/2006/relationships/image" Target="../media/image-25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image" Target="../media/image-26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jpg"/><Relationship Id="rId2" Type="http://schemas.openxmlformats.org/officeDocument/2006/relationships/image" Target="../media/image-27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jpg"/><Relationship Id="rId2" Type="http://schemas.openxmlformats.org/officeDocument/2006/relationships/image" Target="../media/image-28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jpg"/><Relationship Id="rId2" Type="http://schemas.openxmlformats.org/officeDocument/2006/relationships/image" Target="../media/image-29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jpg"/><Relationship Id="rId2" Type="http://schemas.openxmlformats.org/officeDocument/2006/relationships/image" Target="../media/image-30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jpg"/><Relationship Id="rId2" Type="http://schemas.openxmlformats.org/officeDocument/2006/relationships/image" Target="../media/image-31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143000"/>
            <a:ext cx="5852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Планирование спринтов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2514600"/>
            <a:ext cx="548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FC2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Веб-приложение для agile-планирования: данные, метрики и диаграммы в одном месте.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658368" y="3611880"/>
            <a:ext cx="1783080" cy="457200"/>
          </a:xfrm>
          <a:prstGeom prst="roundRect">
            <a:avLst>
              <a:gd name="adj" fmla="val 20000"/>
            </a:avLst>
          </a:prstGeom>
          <a:solidFill>
            <a:srgbClr val="1E335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58368" y="361188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F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 · Spring Boot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2532888" y="3611880"/>
            <a:ext cx="1783080" cy="457200"/>
          </a:xfrm>
          <a:prstGeom prst="roundRect">
            <a:avLst>
              <a:gd name="adj" fmla="val 20000"/>
            </a:avLst>
          </a:prstGeom>
          <a:solidFill>
            <a:srgbClr val="1E335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2532888" y="361188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F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· FastAPI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407408" y="3611880"/>
            <a:ext cx="1783080" cy="457200"/>
          </a:xfrm>
          <a:prstGeom prst="roundRect">
            <a:avLst>
              <a:gd name="adj" fmla="val 20000"/>
            </a:avLst>
          </a:prstGeom>
          <a:solidFill>
            <a:srgbClr val="1E335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407408" y="361188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F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658368" y="51206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C9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Обзор приложения</a:t>
            </a:r>
            <a:endParaRPr lang="en-US" sz="1300" dirty="0"/>
          </a:p>
        </p:txBody>
      </p:sp>
      <p:pic>
        <p:nvPicPr>
          <p:cNvPr id="11" name="Image 0" descr="C:\Users\A4F7~1\AppData\Local\Temp\claude\C--Users--------Dropbox\bdfd415d-d6f1-4ee5-9c1c-7bff7b846157\scratchpad\shots\dash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37960" y="1371600"/>
            <a:ext cx="5166360" cy="2906078"/>
          </a:xfrm>
          <a:prstGeom prst="ellipse">
            <a:avLst/>
          </a:prstGeom>
          <a:effectLst>
            <a:outerShdw sx="100000" sy="100000" kx="0" ky="0" algn="bl" rotWithShape="0" blurRad="177800" dist="63500" dir="5400000">
              <a:srgbClr val="000000">
                <a:alpha val="50000"/>
              </a:srgbClr>
            </a:outerShdw>
          </a:effec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🧭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это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344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Единая среда для планирования по двухнедельным спринтам — от бэклога и оценок до аналитики и прогнозов. Всё пересчитывается автоматически при изменении данных.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548640" y="2057400"/>
            <a:ext cx="3538728" cy="2057400"/>
          </a:xfrm>
          <a:prstGeom prst="roundRect">
            <a:avLst>
              <a:gd name="adj" fmla="val 4000"/>
            </a:avLst>
          </a:prstGeom>
          <a:solidFill>
            <a:srgbClr val="F4F7FF"/>
          </a:solidFill>
          <a:ln/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31520" y="2240280"/>
            <a:ext cx="502920" cy="502920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22402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📋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1335024" y="2258568"/>
            <a:ext cx="26243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Спринты и метрики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749808" y="2843784"/>
            <a:ext cx="313639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Ёмкость, план, velocity, % выполнения — из состава команды и параметров.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370832" y="2057400"/>
            <a:ext cx="3538728" cy="2057400"/>
          </a:xfrm>
          <a:prstGeom prst="roundRect">
            <a:avLst>
              <a:gd name="adj" fmla="val 4000"/>
            </a:avLst>
          </a:prstGeom>
          <a:solidFill>
            <a:srgbClr val="F4F7FF"/>
          </a:solidFill>
          <a:ln/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553712" y="2240280"/>
            <a:ext cx="502920" cy="502920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553712" y="22402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📊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5157216" y="2258568"/>
            <a:ext cx="26243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Диаграмма Ганта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0" y="2843784"/>
            <a:ext cx="313639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Задачи на шкале дат, критический путь, внешние зависимости.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193024" y="2057400"/>
            <a:ext cx="3538728" cy="2057400"/>
          </a:xfrm>
          <a:prstGeom prst="roundRect">
            <a:avLst>
              <a:gd name="adj" fmla="val 4000"/>
            </a:avLst>
          </a:prstGeom>
          <a:solidFill>
            <a:srgbClr val="F4F7FF"/>
          </a:solidFill>
          <a:ln/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375904" y="2240280"/>
            <a:ext cx="502920" cy="502920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375904" y="22402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🎯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8979408" y="2258568"/>
            <a:ext cx="26243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RICE-приоритизация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8394192" y="2843784"/>
            <a:ext cx="313639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Оценка фич: (Reach × Impact × Confidence) / Effort.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48640" y="4389120"/>
            <a:ext cx="3538728" cy="2057400"/>
          </a:xfrm>
          <a:prstGeom prst="roundRect">
            <a:avLst>
              <a:gd name="adj" fmla="val 4000"/>
            </a:avLst>
          </a:prstGeom>
          <a:solidFill>
            <a:srgbClr val="F4F7FF"/>
          </a:solidFill>
          <a:ln/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731520" y="4572000"/>
            <a:ext cx="502920" cy="502920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31520" y="45720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🔗</a:t>
            </a:r>
            <a:endParaRPr lang="en-US" sz="1800" dirty="0"/>
          </a:p>
        </p:txBody>
      </p:sp>
      <p:sp>
        <p:nvSpPr>
          <p:cNvPr id="24" name="Text 22"/>
          <p:cNvSpPr txBox="1"/>
          <p:nvPr/>
        </p:nvSpPr>
        <p:spPr>
          <a:xfrm>
            <a:off x="1335024" y="4590288"/>
            <a:ext cx="26243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Межстримовые зависимости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749808" y="5175504"/>
            <a:ext cx="313639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 чего зависим у смежных команд: статусы, риск, эскалация.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4370832" y="4389120"/>
            <a:ext cx="3538728" cy="2057400"/>
          </a:xfrm>
          <a:prstGeom prst="roundRect">
            <a:avLst>
              <a:gd name="adj" fmla="val 4000"/>
            </a:avLst>
          </a:prstGeom>
          <a:solidFill>
            <a:srgbClr val="F4F7FF"/>
          </a:solidFill>
          <a:ln/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53712" y="4572000"/>
            <a:ext cx="502920" cy="502920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553712" y="45720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📈</a:t>
            </a:r>
            <a:endParaRPr lang="en-US" sz="1800" dirty="0"/>
          </a:p>
        </p:txBody>
      </p:sp>
      <p:sp>
        <p:nvSpPr>
          <p:cNvPr id="29" name="Text 27"/>
          <p:cNvSpPr txBox="1"/>
          <p:nvPr/>
        </p:nvSpPr>
        <p:spPr>
          <a:xfrm>
            <a:off x="5157216" y="4590288"/>
            <a:ext cx="26243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Аналитика и прогнозы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4572000" y="5175504"/>
            <a:ext cx="313639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Сгорание, CFD, cycle time, прогноз Монте-Карло, качество.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8193024" y="4389120"/>
            <a:ext cx="3538728" cy="2057400"/>
          </a:xfrm>
          <a:prstGeom prst="roundRect">
            <a:avLst>
              <a:gd name="adj" fmla="val 4000"/>
            </a:avLst>
          </a:prstGeom>
          <a:solidFill>
            <a:srgbClr val="F4F7FF"/>
          </a:solidFill>
          <a:ln/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8375904" y="4572000"/>
            <a:ext cx="502920" cy="502920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8375904" y="45720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🔐</a:t>
            </a:r>
            <a:endParaRPr lang="en-US" sz="1800" dirty="0"/>
          </a:p>
        </p:txBody>
      </p:sp>
      <p:sp>
        <p:nvSpPr>
          <p:cNvPr id="34" name="Text 32"/>
          <p:cNvSpPr txBox="1"/>
          <p:nvPr/>
        </p:nvSpPr>
        <p:spPr>
          <a:xfrm>
            <a:off x="8979408" y="4590288"/>
            <a:ext cx="26243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Роли и доступ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8394192" y="5175504"/>
            <a:ext cx="313639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Серверная авторизация: логин и роли (Просмотр / Редактор / Администратор) в PostgreSQL.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📋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Дашборд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Сводка проекта одним взглядом.</a:t>
            </a:r>
            <a:endParaRPr lang="en-US" sz="15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с RAG-подсветкой: health, velocity, TTM, DoD, баги, остаток.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Блок «Что требует внимания»: блокеры, перегруз, критичные баги.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Кликабельные карточки и sparkline-тренды.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Графики ёмкости, velocity, багов и Time to Market.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dash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40680" y="1600200"/>
            <a:ext cx="6492240" cy="3651885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🗺️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Дорожная карта</a:t>
            </a:r>
            <a:endParaRPr lang="en-US" sz="3000" dirty="0"/>
          </a:p>
        </p:txBody>
      </p:sp>
      <p:pic>
        <p:nvPicPr>
          <p:cNvPr id="5" name="Image 0" descr="C:\Users\A4F7~1\AppData\Local\Temp\claude\C--Users--------Dropbox\bdfd415d-d6f1-4ee5-9c1c-7bff7b846157\scratchpad\shots\roadmap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6492240" cy="3651885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6" name="Text 3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Спринты считаются автоматически.</a:t>
            </a:r>
            <a:endParaRPr lang="en-US" sz="1550" dirty="0"/>
          </a:p>
        </p:txBody>
      </p:sp>
      <p:sp>
        <p:nvSpPr>
          <p:cNvPr id="7" name="Text 4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Даты, рабочие дни, ёмкость, план, velocity, % выполнения.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Источники — «Параметры» и состав «Команды».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Диаграмма процента выполнения по спринтам.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🗓️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Кварталы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Агрегация по календарным кварталам.</a:t>
            </a:r>
            <a:endParaRPr lang="en-US" sz="15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Ёмкость, план, velocity, загрузка и % по кварталам.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Квартальный roadmap: спринты на шкале дат.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Ключевые вехи подтягиваются автоматически.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quarter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40680" y="1600200"/>
            <a:ext cx="6492240" cy="3651885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🎯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RICE — приоритизация</a:t>
            </a:r>
            <a:endParaRPr lang="en-US" sz="3000" dirty="0"/>
          </a:p>
        </p:txBody>
      </p:sp>
      <p:pic>
        <p:nvPicPr>
          <p:cNvPr id="5" name="Image 0" descr="C:\Users\A4F7~1\AppData\Local\Temp\claude\C--Users--------Dropbox\bdfd415d-d6f1-4ee5-9c1c-7bff7b846157\scratchpad\shots\ric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6492240" cy="3651885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6" name="Text 3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делать в первую очередь.</a:t>
            </a:r>
            <a:endParaRPr lang="en-US" sz="1550" dirty="0"/>
          </a:p>
        </p:txBody>
      </p:sp>
      <p:sp>
        <p:nvSpPr>
          <p:cNvPr id="7" name="Text 4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RICE = (Reach × Impact × Confidence) / Effort.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Авто-расчёт балла, ранга и приоритета (RAG).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Фичи выбираются напрямую из «Бэклога» — с автозаполнением и связью-ссылкой на задачу.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📌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MoSCoW — приоритизация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обязательно, а что подождёт.</a:t>
            </a:r>
            <a:endParaRPr lang="en-US" sz="15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Доска из 4 колонок: Must / Should / Could / Won't.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Требования выбираются напрямую из «Бэклога» — с автозаполнением и связью-ссылкой на задачу.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Правило баланса: доля Must ≤ ~60% ёмкости спринта.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moscow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40680" y="1600200"/>
            <a:ext cx="6492240" cy="3651885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🧩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Доска — интерактивный бесконечный холст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Совместная работа как в Miro.</a:t>
            </a:r>
            <a:endParaRPr lang="en-US" sz="15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Бесконечный холст с панорамой и масштабом: стикеры (с автором и голосованием), текст, фигуры, стрелки-связи, карандаш, изображения, фреймы.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Выделение, перемещение, изменение размера, палитра цветов; изменения сохраняются автоматически.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Фасилитация: таймер; экспорт доски в PNG и PDF.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board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40680" y="1600200"/>
            <a:ext cx="6492240" cy="3651885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🗃️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Kanban-доски по направлениям</a:t>
            </a:r>
            <a:endParaRPr lang="en-US" sz="3000" dirty="0"/>
          </a:p>
        </p:txBody>
      </p:sp>
      <p:pic>
        <p:nvPicPr>
          <p:cNvPr id="5" name="Image 0" descr="C:\Users\A4F7~1\AppData\Local\Temp\claude\C--Users--------Dropbox\bdfd415d-d6f1-4ee5-9c1c-7bff7b846157\scratchpad\shots\kanba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6492240" cy="3651885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6" name="Text 3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Отдельные доски: Backend, Frontend, Тестировщики, Аналитики и релизная.</a:t>
            </a:r>
            <a:endParaRPr lang="en-US" sz="1550" dirty="0"/>
          </a:p>
        </p:txBody>
      </p:sp>
      <p:sp>
        <p:nvSpPr>
          <p:cNvPr id="7" name="Text 4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Вкладки досок по ролям + «Все задачи» и «Релизная доска».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Перетаскивание карточки меняет статус и даты; синхронно с Бэклогом, Гантом и аналитикой.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Администратор создаёт доски, переименовывает и добавляет колонки-статусы.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🚀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Релизная доска: состав и прогресс релизов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Двусторонняя связь с разделом «Релизы».</a:t>
            </a:r>
            <a:endParaRPr lang="en-US" sz="15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 карточке релиза — его состав (стори, задачи, дефекты по диапазону спринтов) и прогресс-бар готовности.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Статус меняется перетаскиванием и синхронно отражается в «Релизах»; состав пересчитывается автоматически.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Подсказка «можно закрыть релиз», когда все задачи готовы; клик по элементу открывает «Бэклог»/«Баги».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kanban_releas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40680" y="1600200"/>
            <a:ext cx="6492240" cy="3651885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🧩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Состав релизов: ручное формирование</a:t>
            </a:r>
            <a:endParaRPr lang="en-US" sz="3000" dirty="0"/>
          </a:p>
        </p:txBody>
      </p:sp>
      <p:pic>
        <p:nvPicPr>
          <p:cNvPr id="5" name="Image 0" descr="C:\Users\A4F7~1\AppData\Local\Temp\claude\C--Users--------Dropbox\bdfd415d-d6f1-4ee5-9c1c-7bff7b846157\scratchpad\shots\kanban_compos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6492240" cy="3651885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6" name="Text 3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Явная привязка задач к релизу перетаскиванием.</a:t>
            </a:r>
            <a:endParaRPr lang="en-US" sz="1550" dirty="0"/>
          </a:p>
        </p:txBody>
      </p:sp>
      <p:sp>
        <p:nvSpPr>
          <p:cNvPr id="7" name="Text 4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Колонки — релизы (+ «Без релиза»); задача перетаскивается в нужный релиз и привязывается явно (приоритет над спринтами).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Поле «Релиз» у задачи в «Бэклоге» — альтернатива авто-расчёту; кнопка «＋ Релиз» создаёт релиз на месте.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«Проверки данных» ловят пересечения и пропуски диапазонов спринтов релизов.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🗂️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Бэклог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Источник данных для всех метрик.</a:t>
            </a:r>
            <a:endParaRPr lang="en-US" sz="15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Редактируемые задачи: тип, оценка, статус, спринт.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Поиск, сортировка по колонкам, строка итогов.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Отмена удаления; зависимость выбирается из списка.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backlo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40680" y="1600200"/>
            <a:ext cx="6492240" cy="3651885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📊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Диаграмма Ганта</a:t>
            </a:r>
            <a:endParaRPr lang="en-US" sz="3000" dirty="0"/>
          </a:p>
        </p:txBody>
      </p:sp>
      <p:pic>
        <p:nvPicPr>
          <p:cNvPr id="5" name="Image 0" descr="C:\Users\A4F7~1\AppData\Local\Temp\claude\C--Users--------Dropbox\bdfd415d-d6f1-4ee5-9c1c-7bff7b846157\scratchpad\shots\gant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6492240" cy="3651885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6" name="Text 3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Задачи на шкале дат по спринтам.</a:t>
            </a:r>
            <a:endParaRPr lang="en-US" sz="1550" dirty="0"/>
          </a:p>
        </p:txBody>
      </p:sp>
      <p:sp>
        <p:nvSpPr>
          <p:cNvPr id="7" name="Text 4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Красная рамка — критический путь (CPM).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Ромбовидный маркер — внешняя зависимость от стрима.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Редактирование спринта и зависимостей на месте.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🔗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Зависимости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Связи с другими стримами.</a:t>
            </a:r>
            <a:endParaRPr lang="en-US" sz="15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Задачи, истории и фичи, зависящие от смежных команд.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Направление, статус с RAG-подсветкой, риск, владелец.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Сводка по статусам/стримам и список для эскалации.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dep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40680" y="1600200"/>
            <a:ext cx="6492240" cy="3651885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👥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Команда</a:t>
            </a:r>
            <a:endParaRPr lang="en-US" sz="3000" dirty="0"/>
          </a:p>
        </p:txBody>
      </p:sp>
      <p:pic>
        <p:nvPicPr>
          <p:cNvPr id="5" name="Image 0" descr="C:\Users\A4F7~1\AppData\Local\Temp\claude\C--Users--------Dropbox\bdfd415d-d6f1-4ee5-9c1c-7bff7b846157\scratchpad\shots\team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6492240" cy="3651885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6" name="Text 3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Основа расчёта ёмкости.</a:t>
            </a:r>
            <a:endParaRPr lang="en-US" sz="1550" dirty="0"/>
          </a:p>
        </p:txBody>
      </p:sp>
      <p:sp>
        <p:nvSpPr>
          <p:cNvPr id="7" name="Text 4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Состав команды и доступность каждого участника.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Из этого считается ёмкость каждого спринта.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Роли: Backend, Frontend, QA, DevOps, Analyst, Designer.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🚀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Релизы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Версии по диапазону спринтов.</a:t>
            </a:r>
            <a:endParaRPr lang="en-US" sz="15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Содержимое считается из «Бэклога» и «Багов».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Раскрытие строки в список стори, задач и дефектов.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Ссылки-переходы к задачам и багам релиза.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release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40680" y="1600200"/>
            <a:ext cx="6492240" cy="3651885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❓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FAQ — справка</a:t>
            </a:r>
            <a:endParaRPr lang="en-US" sz="3000" dirty="0"/>
          </a:p>
        </p:txBody>
      </p:sp>
      <p:pic>
        <p:nvPicPr>
          <p:cNvPr id="5" name="Image 0" descr="C:\Users\A4F7~1\AppData\Local\Temp\claude\C--Users--------Dropbox\bdfd415d-d6f1-4ee5-9c1c-7bff7b846157\scratchpad\shots\faq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6492240" cy="3651885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6" name="Text 3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Ответы на частые вопросы.</a:t>
            </a:r>
            <a:endParaRPr lang="en-US" sz="1550" dirty="0"/>
          </a:p>
        </p:txBody>
      </p:sp>
      <p:sp>
        <p:nvSpPr>
          <p:cNvPr id="7" name="Text 4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Аккордеон вопросов с поиском по 4 категориям.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Редактируемая таблица: админ и редактор наполняют FAQ.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 же данные выгружаются на лист FAQ в Excel.</a:t>
            </a:r>
            <a:endParaRPr lang="en-US" sz="15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🤖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Помощник (чат-бот)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Встроенный ассистент по приложению.</a:t>
            </a:r>
            <a:endParaRPr lang="en-US" sz="15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Отвечает по живым данным: velocity, health, баги, зависимости, бюджет, прогноз.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Подсказывает «что требует внимания», объясняет RICE и MoSCoW, ищет по FAQ.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Открывает нужный раздел по запросу; работает офлайн, без внешних сервисов.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cha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40680" y="1600200"/>
            <a:ext cx="6492240" cy="3651885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🧾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Журнал событий и логирование</a:t>
            </a:r>
            <a:endParaRPr lang="en-US" sz="3000" dirty="0"/>
          </a:p>
        </p:txBody>
      </p:sp>
      <p:pic>
        <p:nvPicPr>
          <p:cNvPr id="5" name="Image 0" descr="C:\Users\A4F7~1\AppData\Local\Temp\claude\C--Users--------Dropbox\bdfd415d-d6f1-4ee5-9c1c-7bff7b846157\scratchpad\shots\audi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6492240" cy="3651885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6" name="Text 3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Все события — в отдельной базе PostgreSQL.</a:t>
            </a:r>
            <a:endParaRPr lang="en-US" sz="1550" dirty="0"/>
          </a:p>
        </p:txBody>
      </p:sp>
      <p:sp>
        <p:nvSpPr>
          <p:cNvPr id="7" name="Text 4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«История изменений» (версии приложения) — видна всем пользователям.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Полный журнал событий: вход, изменения данных, отказы доступа, действия — администратору.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Логирование в отдельную БД PostgreSQL, изолированно и отказоустойчиво (не мешает работе).</a:t>
            </a:r>
            <a:endParaRPr lang="en-US" sz="15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🎬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Демо спринта (Sprint Review)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Демонстрация инкремента заказчикам.</a:t>
            </a:r>
            <a:endParaRPr lang="en-US" sz="15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показывали, докладчик и участники; собранная обратная связь.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Итог: принято / на доработку / отклонено (с KPI приёмки).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Результаты влияют на приоритеты бэклога и следующий спринт.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demo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40680" y="1600200"/>
            <a:ext cx="6492240" cy="3651885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📊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Отчёт-презентация по спринту (PPTX)</a:t>
            </a:r>
            <a:endParaRPr lang="en-US" sz="3000" dirty="0"/>
          </a:p>
        </p:txBody>
      </p:sp>
      <p:pic>
        <p:nvPicPr>
          <p:cNvPr id="5" name="Image 0" descr="C:\Users\A4F7~1\AppData\Local\Temp\claude\C--Users--------Dropbox\bdfd415d-d6f1-4ee5-9c1c-7bff7b846157\scratchpad\shots\pptxdl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6492240" cy="3651885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6" name="Text 3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Готовый отчёт по спринту в один клик.</a:t>
            </a:r>
            <a:endParaRPr lang="en-US" sz="1550" dirty="0"/>
          </a:p>
        </p:txBody>
      </p:sp>
      <p:sp>
        <p:nvSpPr>
          <p:cNvPr id="7" name="Text 4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Кнопка «📊 Отчёт» → выбор спринта: конкретный или весь проект.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Титул, ключевые метрики и графики: ёмкость/velocity, выполнение, баги, TTM, настроение, MoSCoW, Team Radar.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Для выбранного спринта — его метрики и список задач; генерация прямо в браузере.</a:t>
            </a:r>
            <a:endParaRPr lang="en-US" sz="15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🏁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Вехи и технический долг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Контрольные точки и управление техдолгом.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91640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Вехи: привязка к спринтам и релизам, статус.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Техдолг: реестр и тренд «создано / погашено» по спринтам.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milestone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8" name="Text 5"/>
          <p:cNvSpPr txBox="1"/>
          <p:nvPr/>
        </p:nvSpPr>
        <p:spPr>
          <a:xfrm>
            <a:off x="566928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Вехи</a:t>
            </a:r>
            <a:endParaRPr lang="en-US" sz="1050" dirty="0"/>
          </a:p>
        </p:txBody>
      </p:sp>
      <p:pic>
        <p:nvPicPr>
          <p:cNvPr id="9" name="Image 1" descr="C:\Users\A4F7~1\AppData\Local\Temp\claude\C--Users--------Dropbox\bdfd415d-d6f1-4ee5-9c1c-7bff7b846157\scratchpad\shots\debt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2784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10" name="Text 6"/>
          <p:cNvSpPr txBox="1"/>
          <p:nvPr/>
        </p:nvSpPr>
        <p:spPr>
          <a:xfrm>
            <a:off x="6272784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Технический долг</a:t>
            </a:r>
            <a:endParaRPr lang="en-US" sz="10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📈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Аналитика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Единый расчётный движок метрик.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91640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Сгорание, burn-up, CFD, cycle time (контрольная карта).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Распределение, загрузка по ролям, ёмкость по кварталам.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Прогноз Монте-Карло, предсказуемость (CV), DRE, качество.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analytic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8" name="Text 5"/>
          <p:cNvSpPr txBox="1"/>
          <p:nvPr/>
        </p:nvSpPr>
        <p:spPr>
          <a:xfrm>
            <a:off x="566928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KPI и сгорание</a:t>
            </a:r>
            <a:endParaRPr lang="en-US" sz="1050" dirty="0"/>
          </a:p>
        </p:txBody>
      </p:sp>
      <p:pic>
        <p:nvPicPr>
          <p:cNvPr id="9" name="Image 1" descr="C:\Users\A4F7~1\AppData\Local\Temp\claude\C--Users--------Dropbox\bdfd415d-d6f1-4ee5-9c1c-7bff7b846157\scratchpad\shots\analytics2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2784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10" name="Text 6"/>
          <p:cNvSpPr txBox="1"/>
          <p:nvPr/>
        </p:nvSpPr>
        <p:spPr>
          <a:xfrm>
            <a:off x="6272784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Cycle time и распределение</a:t>
            </a:r>
            <a:endParaRPr lang="en-US" sz="10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⚠️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Риски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Оценка и анализ причин.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91640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Балл = Вероятность × Влияние; уровень — авто.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Матрица рисков 5×5 с ранжированием.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Диаграмма Исикавы причин срыва сроков спринта.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risk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8" name="Text 5"/>
          <p:cNvSpPr txBox="1"/>
          <p:nvPr/>
        </p:nvSpPr>
        <p:spPr>
          <a:xfrm>
            <a:off x="566928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Матрица рисков</a:t>
            </a:r>
            <a:endParaRPr lang="en-US" sz="1050" dirty="0"/>
          </a:p>
        </p:txBody>
      </p:sp>
      <p:pic>
        <p:nvPicPr>
          <p:cNvPr id="9" name="Image 1" descr="C:\Users\A4F7~1\AppData\Local\Temp\claude\C--Users--------Dropbox\bdfd415d-d6f1-4ee5-9c1c-7bff7b846157\scratchpad\shots\risks_ishikawa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2784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10" name="Text 6"/>
          <p:cNvSpPr txBox="1"/>
          <p:nvPr/>
        </p:nvSpPr>
        <p:spPr>
          <a:xfrm>
            <a:off x="6272784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Диаграмма Исикавы</a:t>
            </a:r>
            <a:endParaRPr lang="en-US" sz="10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🐞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Баги и ретроспективы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Качество и улучшение процесса.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91640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Баги: серьёзность, статус, причина; питают метрику DRE.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Ретроспективы: итоги спринтов и action items.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Процент закрытия action items по спринтам.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bug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8" name="Text 5"/>
          <p:cNvSpPr txBox="1"/>
          <p:nvPr/>
        </p:nvSpPr>
        <p:spPr>
          <a:xfrm>
            <a:off x="566928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Реестр багов</a:t>
            </a:r>
            <a:endParaRPr lang="en-US" sz="1050" dirty="0"/>
          </a:p>
        </p:txBody>
      </p:sp>
      <p:pic>
        <p:nvPicPr>
          <p:cNvPr id="9" name="Image 1" descr="C:\Users\A4F7~1\AppData\Local\Temp\claude\C--Users--------Dropbox\bdfd415d-d6f1-4ee5-9c1c-7bff7b846157\scratchpad\shots\retro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2784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10" name="Text 6"/>
          <p:cNvSpPr txBox="1"/>
          <p:nvPr/>
        </p:nvSpPr>
        <p:spPr>
          <a:xfrm>
            <a:off x="6272784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Ретроспективы</a:t>
            </a:r>
            <a:endParaRPr lang="en-US" sz="10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⚙️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Цели, бюджет и настройки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Цели квартала, стоимость и базовые параметры.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91640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OKR: цели и прогресс Key Results.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Бюджет: стоимость по ёмкости и накопленный расход.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Параметры: старт, focus factor, DoD; календарь праздников.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ok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8" name="Text 5"/>
          <p:cNvSpPr txBox="1"/>
          <p:nvPr/>
        </p:nvSpPr>
        <p:spPr>
          <a:xfrm>
            <a:off x="566928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OKR</a:t>
            </a:r>
            <a:endParaRPr lang="en-US" sz="1050" dirty="0"/>
          </a:p>
        </p:txBody>
      </p:sp>
      <p:pic>
        <p:nvPicPr>
          <p:cNvPr id="9" name="Image 1" descr="C:\Users\A4F7~1\AppData\Local\Temp\claude\C--Users--------Dropbox\bdfd415d-d6f1-4ee5-9c1c-7bff7b846157\scratchpad\shots\budget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2784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10" name="Text 6"/>
          <p:cNvSpPr txBox="1"/>
          <p:nvPr/>
        </p:nvSpPr>
        <p:spPr>
          <a:xfrm>
            <a:off x="6272784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Бюджет</a:t>
            </a:r>
            <a:endParaRPr lang="en-US" sz="10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🔐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Роли и доступ (серверная авторизация)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Настоящая серверная авторизация и разграничение прав.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91640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Вход по логину и паролю; роли Просмотр / Редактор / Администратор хранятся в PostgreSQL (PBKDF2-хэши, bearer-сессии).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Права проверяются в Java на каждый запрос: чтение — любой вошедший, запись — только Редактор или Администратор.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Администратор управляет учётными записями: добавление, смена роли и пароля, отключение, удаление.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logi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8" name="Text 5"/>
          <p:cNvSpPr txBox="1"/>
          <p:nvPr/>
        </p:nvSpPr>
        <p:spPr>
          <a:xfrm>
            <a:off x="566928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Вход по логину и паролю</a:t>
            </a:r>
            <a:endParaRPr lang="en-US" sz="1050" dirty="0"/>
          </a:p>
        </p:txBody>
      </p:sp>
      <p:pic>
        <p:nvPicPr>
          <p:cNvPr id="9" name="Image 1" descr="C:\Users\A4F7~1\AppData\Local\Temp\claude\C--Users--------Dropbox\bdfd415d-d6f1-4ee5-9c1c-7bff7b846157\scratchpad\shots\users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2784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10" name="Text 6"/>
          <p:cNvSpPr txBox="1"/>
          <p:nvPr/>
        </p:nvSpPr>
        <p:spPr>
          <a:xfrm>
            <a:off x="6272784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Управление ролями (администратор)</a:t>
            </a:r>
            <a:endParaRPr lang="en-US" sz="10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📅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Scrum-церемонии: Дэйли и Груминг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Ежедневная синхронизация и подготовка бэклога.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91640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Дэйли: что сделано вчера, план на сегодня и блокеры — по дням и участникам.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Груминг: оценка, декомпозиция, уточнение и приоритизация (Definition of Ready). Задачи выбираются напрямую из «Бэклога» с автозаполнением и связью-ссылкой.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Вместе с «Демо спринта» и «Ретроспективами» — полный набор Scrum-церемоний.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daily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8" name="Text 5"/>
          <p:cNvSpPr txBox="1"/>
          <p:nvPr/>
        </p:nvSpPr>
        <p:spPr>
          <a:xfrm>
            <a:off x="566928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Дэйли (Daily Standup)</a:t>
            </a:r>
            <a:endParaRPr lang="en-US" sz="1050" dirty="0"/>
          </a:p>
        </p:txBody>
      </p:sp>
      <p:pic>
        <p:nvPicPr>
          <p:cNvPr id="9" name="Image 1" descr="C:\Users\A4F7~1\AppData\Local\Temp\claude\C--Users--------Dropbox\bdfd415d-d6f1-4ee5-9c1c-7bff7b846157\scratchpad\shots\grooming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2784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10" name="Text 6"/>
          <p:cNvSpPr txBox="1"/>
          <p:nvPr/>
        </p:nvSpPr>
        <p:spPr>
          <a:xfrm>
            <a:off x="6272784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Груминг (Backlog Refinement)</a:t>
            </a:r>
            <a:endParaRPr lang="en-US" sz="10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🏖️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Персонал: отпуска и дни рождения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Доступность команды и важные даты.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91640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График отпусков: отпуска, больничные, отгулы и командировки — для учёта доступности при планировании.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Дни рождения: даты участников команды и ближайшие праздники (с обратным отсчётом).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vacatio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8" name="Text 5"/>
          <p:cNvSpPr txBox="1"/>
          <p:nvPr/>
        </p:nvSpPr>
        <p:spPr>
          <a:xfrm>
            <a:off x="566928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График отпусков</a:t>
            </a:r>
            <a:endParaRPr lang="en-US" sz="1050" dirty="0"/>
          </a:p>
        </p:txBody>
      </p:sp>
      <p:pic>
        <p:nvPicPr>
          <p:cNvPr id="9" name="Image 1" descr="C:\Users\A4F7~1\AppData\Local\Temp\claude\C--Users--------Dropbox\bdfd415d-d6f1-4ee5-9c1c-7bff7b846157\scratchpad\shots\birthdays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2784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10" name="Text 6"/>
          <p:cNvSpPr txBox="1"/>
          <p:nvPr/>
        </p:nvSpPr>
        <p:spPr>
          <a:xfrm>
            <a:off x="6272784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Дни рождения</a:t>
            </a:r>
            <a:endParaRPr lang="en-US" sz="10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🤖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Автоматизация планирования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Приложение берёт на себя рутину — от наполнения спринта до контроля качества данных.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91640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Бэклог: приоритет (RICE/MoSCoW) и флаг готовности (DoR) прямо в задаче; авто-набор спринта по ёмкости с учётом готовности и зависимостей.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Отпуска уменьшают ёмкость; итоги церемоний → задачи; циклы и конфликты зависимостей помечаются на Ганте и в «Проверках данных».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Импорт из CSV/Jira, авто-предложение отчёта при завершении спринта; помощник выполняет команды («набери спринт», «в груминг», «синхронизируй готовность»).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backlo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8" name="Text 5"/>
          <p:cNvSpPr txBox="1"/>
          <p:nvPr/>
        </p:nvSpPr>
        <p:spPr>
          <a:xfrm>
            <a:off x="566928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Приоритет и DoR в задаче, авто-набор спринта</a:t>
            </a:r>
            <a:endParaRPr lang="en-US" sz="1050" dirty="0"/>
          </a:p>
        </p:txBody>
      </p:sp>
      <p:pic>
        <p:nvPicPr>
          <p:cNvPr id="9" name="Image 1" descr="C:\Users\A4F7~1\AppData\Local\Temp\claude\C--Users--------Dropbox\bdfd415d-d6f1-4ee5-9c1c-7bff7b846157\scratchpad\shots\checks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2784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10" name="Text 6"/>
          <p:cNvSpPr txBox="1"/>
          <p:nvPr/>
        </p:nvSpPr>
        <p:spPr>
          <a:xfrm>
            <a:off x="6272784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Проверки: целостность, циклы и конфликты зависимостей</a:t>
            </a:r>
            <a:endParaRPr lang="en-US" sz="10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🎲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Ретроспективы: игровые практики Agile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Геймификация ретро для вовлечённости и реальных улучшений.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91640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Форматы (Start/Stop/Continue, Sailboat, 4L, Starfish, DAKI), dot-voting по пунктам и стрик закрытых action items.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Настроение команды по спринтам с трендом, Kudos (благодарности) и эксперименты как проверяемые гипотезы с метрикой.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Radar — радар-диаграмма самооценки команды по осям (текущий и прошлый спринт).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retro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8" name="Text 5"/>
          <p:cNvSpPr txBox="1"/>
          <p:nvPr/>
        </p:nvSpPr>
        <p:spPr>
          <a:xfrm>
            <a:off x="566928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Форматы, голоса и стрик</a:t>
            </a:r>
            <a:endParaRPr lang="en-US" sz="1050" dirty="0"/>
          </a:p>
        </p:txBody>
      </p:sp>
      <p:pic>
        <p:nvPicPr>
          <p:cNvPr id="9" name="Image 1" descr="C:\Users\A4F7~1\AppData\Local\Temp\claude\C--Users--------Dropbox\bdfd415d-d6f1-4ee5-9c1c-7bff7b846157\scratchpad\shots\retro2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2784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10" name="Text 6"/>
          <p:cNvSpPr txBox="1"/>
          <p:nvPr/>
        </p:nvSpPr>
        <p:spPr>
          <a:xfrm>
            <a:off x="6272784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Настроение, эксперименты и Team Radar</a:t>
            </a:r>
            <a:endParaRPr lang="en-US" sz="10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🧩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Архитектура и стек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Полиглот-архитектура с чёткой ролью каждого сервиса; всё поднимается через docker-compose.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291840" y="2926080"/>
            <a:ext cx="1325880" cy="-640080"/>
          </a:xfrm>
          <a:prstGeom prst="line">
            <a:avLst/>
          </a:prstGeom>
          <a:noFill/>
          <a:ln w="22225">
            <a:solidFill>
              <a:srgbClr val="9AB0CC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3291840" y="2926080"/>
            <a:ext cx="1325880" cy="685800"/>
          </a:xfrm>
          <a:prstGeom prst="line">
            <a:avLst/>
          </a:prstGeom>
          <a:noFill/>
          <a:ln w="22225">
            <a:solidFill>
              <a:srgbClr val="9AB0CC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7452360" y="2258568"/>
            <a:ext cx="1325880" cy="640080"/>
          </a:xfrm>
          <a:prstGeom prst="line">
            <a:avLst/>
          </a:prstGeom>
          <a:noFill/>
          <a:ln w="22225">
            <a:solidFill>
              <a:srgbClr val="9AB0CC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7452360" y="3630168"/>
            <a:ext cx="1325880" cy="-685800"/>
          </a:xfrm>
          <a:prstGeom prst="line">
            <a:avLst/>
          </a:prstGeom>
          <a:noFill/>
          <a:ln w="22225">
            <a:solidFill>
              <a:srgbClr val="9AB0CC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640080" y="2240280"/>
            <a:ext cx="2651760" cy="1371600"/>
          </a:xfrm>
          <a:prstGeom prst="roundRect">
            <a:avLst>
              <a:gd name="adj" fmla="val 6667"/>
            </a:avLst>
          </a:prstGeom>
          <a:solidFill>
            <a:srgbClr val="1E3352"/>
          </a:solidFill>
          <a:ln/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777240" y="2240280"/>
            <a:ext cx="2377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F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Веб-интерфейс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CF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HTML/CSS/JS · nginx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617720" y="1691640"/>
            <a:ext cx="2834640" cy="1143000"/>
          </a:xfrm>
          <a:prstGeom prst="roundRect">
            <a:avLst>
              <a:gd name="adj" fmla="val 8000"/>
            </a:avLst>
          </a:prstGeom>
          <a:solidFill>
            <a:srgbClr val="2D5BE3"/>
          </a:solidFill>
          <a:ln/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4754880" y="1691640"/>
            <a:ext cx="25603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 · Spring Boot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API, CRUD, JPA/Hibernate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4617720" y="3063240"/>
            <a:ext cx="2834640" cy="1143000"/>
          </a:xfrm>
          <a:prstGeom prst="roundRect">
            <a:avLst>
              <a:gd name="adj" fmla="val 8000"/>
            </a:avLst>
          </a:prstGeom>
          <a:solidFill>
            <a:srgbClr val="12233F"/>
          </a:solidFill>
          <a:ln/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4754880" y="3063240"/>
            <a:ext cx="25603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F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· FastAPI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CF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метрики и аналитика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8778240" y="2240280"/>
            <a:ext cx="2651760" cy="1371600"/>
          </a:xfrm>
          <a:prstGeom prst="roundRect">
            <a:avLst>
              <a:gd name="adj" fmla="val 6667"/>
            </a:avLst>
          </a:prstGeom>
          <a:solidFill>
            <a:srgbClr val="1B2A44"/>
          </a:solidFill>
          <a:ln/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8915400" y="2240280"/>
            <a:ext cx="2377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F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CF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общая БД · Flyway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4160520"/>
            <a:ext cx="109728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 Spring Boot — REST /api/state (оптимистичная блокировка версий), per-entity CRUD и серверная авторизация.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Аутентификация: логин, роли и bearer-сессии в PostgreSQL; права проверяются в Java на каждый запрос.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FastAPI + SQLAlchemy — тот же расчётный движок метрик, что и в UI; PostgreSQL + миграции Flyway.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 (GitHub Actions): тесты Java (Spring Boot + H2), Python (+ testcontainers) и сквозной e2e; nginx проксирует /api и /analytics.</a:t>
            </a:r>
            <a:endParaRPr lang="en-US" sz="15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101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73152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Итог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1600200"/>
            <a:ext cx="6583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FC2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Единый инструмент планирования спринтов: от бэклога до аналитики, с общей БД и понятной архитектурой.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2395728"/>
            <a:ext cx="658368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CF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Kanban, RICE, MoSCoW, Scrum-церемонии, персонал и ещё 20+ разделов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AFC2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Автоматический пересчёт всех метрик и диаграмм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AFC2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Серверная авторизация с ролями в PostgreSQL и проверкой прав в Java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AFC2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Логирование всех событий в отдельную базу PostgreSQL; история изменений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AFC2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Отчёт-презентация по спринту (PPTX) прямо из приложения — метрики и графики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AFC2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Автоматизация: авто-набор спринта, приоритизация, проверки данных, помощник-исполнитель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AFC2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Встроенный чат-бот помощник по данным проекта (офлайн)</a:t>
            </a:r>
            <a:endParaRPr lang="en-US" sz="1500" dirty="0"/>
          </a:p>
          <a:p>
            <a:pPr marL="203200" indent="-203200">
              <a:buSzPct val="100000"/>
              <a:buChar char="•"/>
            </a:pPr>
            <a:r>
              <a:rPr lang="en-US" sz="1500" dirty="0">
                <a:solidFill>
                  <a:srgbClr val="AFC2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Полиглот-стек Java + Python + PostgreSQL, CI и docker-compose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58368" y="5257800"/>
            <a:ext cx="6675120" cy="640080"/>
          </a:xfrm>
          <a:prstGeom prst="roundRect">
            <a:avLst>
              <a:gd name="adj" fmla="val 14286"/>
            </a:avLst>
          </a:prstGeom>
          <a:solidFill>
            <a:srgbClr val="1E335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58368" y="5257800"/>
            <a:ext cx="6675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CF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github.com/neoandrey1985/Planirovanie</a:t>
            </a:r>
            <a:endParaRPr lang="en-US" sz="1350" dirty="0"/>
          </a:p>
        </p:txBody>
      </p:sp>
      <p:pic>
        <p:nvPicPr>
          <p:cNvPr id="7" name="Image 0" descr="C:\Users\A4F7~1\AppData\Local\Temp\claude\C--Users--------Dropbox\bdfd415d-d6f1-4ee5-9c1c-7bff7b846157\scratchpad\shots\analytic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35240" y="1371600"/>
            <a:ext cx="4069080" cy="2288858"/>
          </a:xfrm>
          <a:prstGeom prst="ellipse">
            <a:avLst/>
          </a:prstGeom>
          <a:effectLst>
            <a:outerShdw sx="100000" sy="100000" kx="0" ky="0" algn="bl" rotWithShape="0" blurRad="177800" dist="63500" dir="5400000">
              <a:srgbClr val="000000">
                <a:alpha val="50000"/>
              </a:srgbClr>
            </a:outerShdw>
          </a:effectLst>
        </p:spPr>
      </p:pic>
      <p:sp>
        <p:nvSpPr>
          <p:cNvPr id="8" name="Text 5"/>
          <p:cNvSpPr txBox="1"/>
          <p:nvPr/>
        </p:nvSpPr>
        <p:spPr>
          <a:xfrm>
            <a:off x="7635240" y="5394960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7C9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Спасибо за внимание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33</Slides>
  <Notes>33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2026-09-16T05:50:11Z</dcterms:created>
  <dcterms:modified xsi:type="dcterms:W3CDTF">2026-09-16T05:50:11Z</dcterms:modified>
</cp:coreProperties>
</file>